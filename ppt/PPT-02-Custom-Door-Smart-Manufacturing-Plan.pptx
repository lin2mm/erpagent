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这套方案的起点不是功能清单，是先把账摆在桌面上。客户眼下最贵的三样东西：被设计拖长的交期、说不清楚的订单成本、出了问题查不到的人。方案就冲着这三样来。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这一页的用意是：不从功能讲起，从客户的损失讲起。每一条痛点后面都要能挂上具体的钱、天数或风险。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右边那一列是本页的重点。每一项优势都要能回答「所以呢」——所以交期能压到多少、所以报价敢不敢报、所以投标敢不敢承诺。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案最漂亮的一招。传统做法是接单等设计、图定了才拆单下料，车间干等两三周；这套做法订单一确认就同时干两件事：结构预拆让长周期材料先投产，设计任务同步派发。设计周期从卡整门交期，变成只卡装饰段交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很多工厂已经有打码设备了，但那个码只活在设备里、打完就完了。这套方案的第一个动作，就是把它激活成全厂的数据主线。四层码分工明确：部件码是主对象，其余都是归集用的辅助码。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这一页是决定项目成败的一页。顺序很重要：先让工人受益，再让工人受约束。另外报工粒度必须匹配工序形态，不逼批量工序的工人逐件点。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齐套校验是这道方案里最硬的一道闸门：一樘门缺任何一个件，出不了库；而且系统会指出缺的件卡在哪道工序或哪张采购单。货发到工地才发现少件的返工损失，从此拦在厂里。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重点讲两层：能力中台层（配好的引擎，不再重复造轮子）和车间边缘节点层（断网不停产）。能力中台是两个月交付的底气；边缘节点是车间愿意信任系统的基础。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这一页的分量在于最后一句话：工人的工时和计件一分不少。这是车间愿意信任这套系统的基础——如果断网就扣工人的钱，再好的系统也推不动。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三条规律：销售只碰售前和订单；设计师只守设计管理；车间一行里只有生产管理是绿色，其余全部只读或不可见——界面越窄，操作越专注。另外一定要讲数据权限的三道锁，尤其是外部单位看图纸的水印。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这一页用来把前面的功能串成一条线。重点讲两个节点：设计确认留痕（客户说改就带批注挂在这一版下面，说定了就锁定版本）；仓库的两枪绑定（一枪扫五金批次建包，一枪在装配工位绑到樘）。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板手机上是移动看板：今天全厂接了多少单、产了多少樘、卡在哪个工序、哪些订单交期告急、哪笔款该收了。厂区大屏挂在车间做滚动播报。财务首版先上「看得清」的部分，记得准的重模块排在第一优先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周蓝图冲刺，第二周设计冻结——之后新需求不再口头往里塞，走正式变更评估，这是两个月守得住的第一条纪律。第四周和第六周两次硬检查点，偏差超阈值就启动范围降级：先保主线，顺延的明说，不静默延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这一页是商务关键：明确的不是「我们做什么」，而是「我们不做什么，以及为什么」。后移清单需要在会上得到认可——它就是两个月开发承诺的对价。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这是全案最实用的一页。注意每一条都是「可验证的动词 + 责任人 + 时点」，不是「希望贵司重视」这类空话。这一页直接可以做成项目章程的附件。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验收清单里有三条是负面测试：让首件未确认的工序试批量报工、让缺件的订单试发货、让产能超限的产线再排一单。这三条比任何「功能清单打勾」都更能证明系统真的能用。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最后一句最重要：中小制造企业上系统，成败第一因素不是技术，是一把手的参与度。所以项目指导委员会建议一把手任主席，关键用户清单连同投入比例写进项目章程。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收尾：六项优势每一笔都换算成钱或风险；两条方法论最值钱——找客户已投入但没被利用的资产（打标机上的码），找可解耦的两段让串行变并行（两段拆单）。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87782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智能制造一体化系统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424160" cy="16459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  <a:ea typeface="微软雅黑"/>
              </a:rPr>
              <a:t>非标定制品智能制造一体化方案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A9BAD4"/>
                </a:solidFill>
                <a:latin typeface="Arial"/>
                <a:ea typeface="微软雅黑"/>
              </a:rPr>
              <a:t>一套系统 · 八个入口 · 一个码串起一件产品的一生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425444"/>
            <a:ext cx="5120640" cy="2540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657600"/>
            <a:ext cx="10424160" cy="7863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00" b="0">
                <a:solidFill>
                  <a:srgbClr val="C6D2E4"/>
                </a:solidFill>
                <a:latin typeface="Arial"/>
                <a:ea typeface="微软雅黑"/>
              </a:rPr>
              <a:t>从接单、设计、拆单、下料、工序报工、检验、装配、入库、发货、安装到售后，全部在一套系统里走完；数据天生在一处，不存在系统间对账。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8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纯开发周期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5 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并行开发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13 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内部角色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5 层码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标识与追溯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669280"/>
            <a:ext cx="11055096" cy="621792"/>
          </a:xfrm>
          <a:prstGeom prst="roundRect">
            <a:avLst>
              <a:gd name="adj" fmla="val 8823"/>
            </a:avLst>
          </a:prstGeom>
          <a:solidFill>
            <a:srgbClr val="1B2C46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74618"/>
            <a:ext cx="10762488" cy="4286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A9BAD4"/>
                </a:solidFill>
                <a:latin typeface="Arial"/>
                <a:ea typeface="微软雅黑"/>
              </a:rPr>
              <a:t>口径声明：8 周为纯开发周期，不含集成调试、数据迁移、培训与上线部署 —— 它们安排在开发完成之后，按实际进度与现场情况动态推进，不预埋拍脑袋的日期。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 · 先说结论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先把账摆在桌面上：您眼下最贵的三样东西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功能清单放在后面讲。这套系统就是冲着这三样来的——另外附赠两样：拿项目的硬证据，和两个月就能跑起来的速度。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48256"/>
            <a:ext cx="220599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14B45"/>
                </a:solidFill>
                <a:latin typeface="Arial"/>
                <a:ea typeface="微软雅黑"/>
              </a:rPr>
              <a:t>最贵的第一样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22576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被设计拖长的交期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2205990" cy="9326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订单一确认就得等设计出图，车间在旁边干等两三个星期。同行做一樘非标门，流程是串着的：接单 → 等设计 → 图定了才拆单下料。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883664"/>
            <a:ext cx="257175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883664"/>
            <a:ext cx="2571750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48256"/>
            <a:ext cx="220599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89A28"/>
                </a:solidFill>
                <a:latin typeface="Arial"/>
                <a:ea typeface="微软雅黑"/>
              </a:rPr>
              <a:t>最贵的第二样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322576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说不清楚的订单成本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962656"/>
            <a:ext cx="2205990" cy="9326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一张订单是赚是亏，基本要等年底算账才知道；亏了，也不知道亏在哪张单上。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883664"/>
            <a:ext cx="257175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883664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48256"/>
            <a:ext cx="220599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最贵的第三样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322576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出了问题查不到的人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2962656"/>
            <a:ext cx="2205990" cy="9326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板上的码打完就完了，只活在设备里；真出了质量事故，追责要的是责任人链，手上却没有。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06240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206240"/>
            <a:ext cx="68580" cy="181051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3115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这套方案给的五样东西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622474"/>
            <a:ext cx="10671048" cy="130649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① 非标交期压掉两三周 —— 流程由串行改并行，设计不再卡整门交期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② 一樘门的三分钟档案 —— 把设备里已有的打码激活成全厂数据主线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③ 工人抢着扫码 —— 扫一枪，计件明细当天进他的账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④ 订单赚不赚钱，接单当天就有底 —— 标准成本下单当天算出，亏损单提前亮红灯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⑤ 客户问进度，销售一秒回答 —— 订单详情一页看全，设计确认全程留痕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二 · 优势总览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六项优势：每一项都换算成钱、天数或赢单率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不讲功能，讲客户的周转、返工损失、验收风险与投标胜率。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4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54"/>
                <a:gridCol w="2432121"/>
                <a:gridCol w="4200936"/>
                <a:gridCol w="3869283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#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优势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一句话机制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量化承诺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非标交期压掉两三周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长周期材料先预拆投产，设计只卡装饰段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同行约 40 天 → 约 25 天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一樘门的三分钟档案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把设备上已有的打码激活成全厂数据主线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扫码 3 秒出档案；反查批次几分钟锁定受影响范围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工人抢着扫码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扫一枪，计件明细当天进账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月底不再手工统计计件；报工数与裁板数、包装数自动交叉核对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订单赚不赚钱当天有底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标准成本下单当天算出，实际成本实时归集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亏损单提前亮红灯；发货有齐套校验硬闸门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客户问进度，一秒回答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订单详情一页看全：设计到第几版、卡在哪道工序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设计确认全程留痕，交付不再扯皮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6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两个月交出主线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有产品化基线：平台能力现成 + 行业逻辑已沉淀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8 周纯开发，五条线并行；验收认真机不认文档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559552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559552"/>
            <a:ext cx="68580" cy="7315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64890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为什么不做三套系统拼起来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75786"/>
            <a:ext cx="10671048" cy="227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订单、图纸、生产、质量、库存本来就是一条连续的生意。拆到三套系统里，每家供应商各管一段，接口对不上、数据打架，最后每套都用一半。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优势一 · 交期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两段拆单：设计画图的同时，车间已经在下料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不改工艺、不买设备、不加班 —— 只把串行的流程识别出「可解耦的两段」，让它们并行。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840737"/>
            <a:ext cx="8878824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6850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3385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922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5104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458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82994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8176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9530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56066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1247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2602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29138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34320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15674" y="1847088"/>
            <a:ext cx="12700" cy="54864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1645920"/>
            <a:ext cx="60350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下单后天数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956816"/>
            <a:ext cx="20116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14B45"/>
                </a:solidFill>
                <a:latin typeface="Arial"/>
                <a:ea typeface="微软雅黑"/>
              </a:rPr>
              <a:t>传统做法（串行）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1956816"/>
            <a:ext cx="45720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Arial"/>
                <a:ea typeface="微软雅黑"/>
              </a:rPr>
              <a:t>交期约 45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25856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订单确认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2231136"/>
            <a:ext cx="197307" cy="274320"/>
          </a:xfrm>
          <a:prstGeom prst="roundRect">
            <a:avLst>
              <a:gd name="adj" fmla="val 13903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57860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等设计定稿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40507" y="2551176"/>
            <a:ext cx="3748836" cy="274320"/>
          </a:xfrm>
          <a:prstGeom prst="roundRect">
            <a:avLst>
              <a:gd name="adj" fmla="val 10000"/>
            </a:avLst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0783" y="2578608"/>
            <a:ext cx="484124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D14B45"/>
                </a:solidFill>
                <a:latin typeface="Arial"/>
                <a:ea typeface="微软雅黑"/>
              </a:rPr>
              <a:t>≈2~3 周，车间无活可干 —— 纯等待，不产生任何价值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89864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拆单下料 + 结构生产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89344" y="2871216"/>
            <a:ext cx="3551529" cy="274320"/>
          </a:xfrm>
          <a:prstGeom prst="roundRect">
            <a:avLst>
              <a:gd name="adj" fmla="val 1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21868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装饰 / 发货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0873" y="3191256"/>
            <a:ext cx="1381150" cy="274320"/>
          </a:xfrm>
          <a:prstGeom prst="roundRect">
            <a:avLst>
              <a:gd name="adj" fmla="val 1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613134" y="2139696"/>
            <a:ext cx="17780" cy="1389888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3304" y="3529584"/>
            <a:ext cx="128016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860" b="1">
                <a:solidFill>
                  <a:srgbClr val="D14B45"/>
                </a:solidFill>
                <a:latin typeface="Arial"/>
                <a:ea typeface="微软雅黑"/>
              </a:rPr>
              <a:t>45 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767328"/>
            <a:ext cx="20116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2E9E6B"/>
                </a:solidFill>
                <a:latin typeface="Arial"/>
                <a:ea typeface="微软雅黑"/>
              </a:rPr>
              <a:t>本方案（并行）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3767328"/>
            <a:ext cx="45720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Arial"/>
                <a:ea typeface="微软雅黑"/>
              </a:rPr>
              <a:t>交期约 25 天，压缩约 3 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06908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订单确认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4041648"/>
            <a:ext cx="197307" cy="274320"/>
          </a:xfrm>
          <a:prstGeom prst="roundRect">
            <a:avLst>
              <a:gd name="adj" fmla="val 13903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38912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结构预拆 → 板材门芯投产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40507" y="4361688"/>
            <a:ext cx="394614" cy="27432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6561" y="4389120"/>
            <a:ext cx="8195462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2E9E6B"/>
                </a:solidFill>
                <a:latin typeface="Arial"/>
                <a:ea typeface="微软雅黑"/>
              </a:rPr>
              <a:t>第 2 天即投产，不等设计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70916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DE7A33"/>
                </a:solidFill>
                <a:latin typeface="Arial"/>
                <a:ea typeface="微软雅黑"/>
              </a:rPr>
              <a:t>设计任务（与生产并行）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40507" y="4681728"/>
            <a:ext cx="2564993" cy="274320"/>
          </a:xfrm>
          <a:prstGeom prst="roundRect">
            <a:avLst>
              <a:gd name="adj" fmla="val 10000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96940" y="4709160"/>
            <a:ext cx="6025083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DE7A33"/>
                </a:solidFill>
                <a:latin typeface="Arial"/>
                <a:ea typeface="微软雅黑"/>
              </a:rPr>
              <a:t>设计只影响装饰段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02920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定稿触发装饰补拆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05500" y="5001768"/>
            <a:ext cx="591921" cy="274320"/>
          </a:xfrm>
          <a:prstGeom prst="roundRect">
            <a:avLst>
              <a:gd name="adj" fmla="val 1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534924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装饰 / 齐套 / 发货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7422" y="5321808"/>
            <a:ext cx="1578457" cy="27432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66990" y="3950208"/>
            <a:ext cx="17780" cy="17190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87160" y="5596128"/>
            <a:ext cx="128016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860" b="1">
                <a:solidFill>
                  <a:srgbClr val="2E9E6B"/>
                </a:solidFill>
                <a:latin typeface="Arial"/>
                <a:ea typeface="微软雅黑"/>
              </a:rPr>
              <a:t>25 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778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6928" y="5577840"/>
            <a:ext cx="68580" cy="71323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机制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5994074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Arial"/>
                <a:ea typeface="微软雅黑"/>
              </a:rPr>
              <a:t>订单一确认，系统同时干两件事：① 结构预拆 —— 长周期材料先投产；② 设计任务自动派发。设计定稿后只触发「装饰补拆」—— 设计周期从「卡整门交期」变成「只卡装饰段交期」。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优势二 · 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一个码串起一樘门的一生：从下单到售后的全程追溯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四层码各管一段；码上只存身份，信息全在系统里 —— 扫一枪，该调什么调什么。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销售下单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485900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77340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4772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设计确认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96312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87752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拆单下料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06724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98164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DE7A33"/>
          </a:solidFill>
          <a:ln w="1778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5596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  <a:ea typeface="微软雅黑"/>
              </a:rPr>
              <a:t>裁板打码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517136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8576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工序报工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527548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18988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6420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检验记录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37960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装配绑定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548371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39811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7243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入库装箱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558784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0224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77655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扫码发货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569196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60636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8067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安装验收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0579608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671048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售后报修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2615184"/>
            <a:ext cx="11055096" cy="493776"/>
          </a:xfrm>
          <a:prstGeom prst="roundRect">
            <a:avLst>
              <a:gd name="adj" fmla="val 6666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2734056"/>
            <a:ext cx="1069848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DE7A33"/>
                </a:solidFill>
                <a:latin typeface="Arial"/>
                <a:ea typeface="微软雅黑"/>
              </a:rPr>
              <a:t>部件码（裁板打标生成） —— 每一块门板 / 门套件的身份证，贯穿全程不变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255264"/>
            <a:ext cx="68580" cy="82296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部件码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每块板 / 门套件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5379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05379" y="3255264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4835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托盘码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24835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批量工序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43830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43830" y="3255264"/>
            <a:ext cx="68580" cy="822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63286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配套包码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3286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五金花件成套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82281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82281" y="3255264"/>
            <a:ext cx="68580" cy="82296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01737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批次码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1737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板材五金来料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0732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20732" y="3255264"/>
            <a:ext cx="68580" cy="822960"/>
          </a:xfrm>
          <a:prstGeom prst="rect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40188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箱码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0188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成品发货单元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224528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正查与反查 —— 只有双向的追溯才是真能力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4535424"/>
            <a:ext cx="5394960" cy="1700784"/>
          </a:xfrm>
          <a:prstGeom prst="roundRect">
            <a:avLst>
              <a:gd name="adj" fmla="val 3225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4535424"/>
            <a:ext cx="68580" cy="170078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2" y="464076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正查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" y="4951658"/>
            <a:ext cx="5010912" cy="119676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扫任意码 → 3 秒出全生命周期档案：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材料批次 / 工艺参数 / 图纸版本 / 责任人 / 检验记录 / 发货去向</a:t>
            </a:r>
          </a:p>
          <a:p>
            <a:pPr algn="l">
              <a:spcBef>
                <a:spcPts val="600"/>
              </a:spcBef>
            </a:pPr>
            <a:r>
              <a:rPr sz="1019" b="0">
                <a:solidFill>
                  <a:srgbClr val="6B7A90"/>
                </a:solidFill>
                <a:latin typeface="Arial"/>
                <a:ea typeface="微软雅黑"/>
              </a:rPr>
              <a:t>反着查也行。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5352" y="4535424"/>
            <a:ext cx="5376672" cy="1700784"/>
          </a:xfrm>
          <a:prstGeom prst="roundRect">
            <a:avLst>
              <a:gd name="adj" fmla="val 3225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45352" y="4535424"/>
            <a:ext cx="68580" cy="170078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83096" y="464076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反查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83096" y="4951658"/>
            <a:ext cx="4992624" cy="119676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输入材料批次 / 供应商 → 定位受影响的件、订单、项目 → 一键冻结 → 导出台账</a:t>
            </a:r>
          </a:p>
          <a:p>
            <a:pPr algn="l">
              <a:spcBef>
                <a:spcPts val="6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例：某一批锁具出了质量通告，几分钟锁定受影响的樘与项目，台账直接导出。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优势三 · 推行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工人抢着扫码：因为扫码就是他的工资单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车间数字化最难的不是技术，是工人凭什么配合。这套方案的答案很简单——扫一枪，计件明细当天进他的账。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810512"/>
          </a:xfrm>
          <a:prstGeom prst="roundRect">
            <a:avLst>
              <a:gd name="adj" fmla="val 303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81051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为什么工人会配合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10912" cy="130649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扫一枪，计件明细当天进他的账。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下班前打开「我的计件」：今天干了多少、能拿多少，一目了然。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月底班组长不用再手工统计计件 —— 争议和博弈一起消失。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376672" cy="1810512"/>
          </a:xfrm>
          <a:prstGeom prst="roundRect">
            <a:avLst>
              <a:gd name="adj" fmla="val 3030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83664"/>
            <a:ext cx="68580" cy="181051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90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对管理层：车间从黑箱变透明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299898"/>
            <a:ext cx="4992624" cy="130649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每张订单每扇门走到哪道工序，手机上实时可见。</a:t>
            </a:r>
          </a:p>
          <a:p>
            <a:pPr algn="l">
              <a:spcBef>
                <a:spcPts val="3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在制品堆在哪、哪道工序是瓶颈，一眼看穿。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报工数会跟裁板数、包装数自动交叉核对，异常报工系统自动预警。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77056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报工粒度必须匹配工序的物理形态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06240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06240"/>
            <a:ext cx="68580" cy="129844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298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裁板工序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609307"/>
            <a:ext cx="3154679" cy="8185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2F6BE4"/>
                </a:solidFill>
                <a:latin typeface="Arial"/>
                <a:ea typeface="微软雅黑"/>
              </a:rPr>
              <a:t>单件扫码报工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每一块板一个码，扫一枪记一件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206240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206240"/>
            <a:ext cx="68580" cy="1298448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5" y="4298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喷涂线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5" y="4609307"/>
            <a:ext cx="3154679" cy="8185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DE7A33"/>
                </a:solidFill>
                <a:latin typeface="Arial"/>
                <a:ea typeface="微软雅黑"/>
              </a:rPr>
              <a:t>整托一枪批量报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托盘进线绑定、出线逐件认领，不逼工人逐件点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1" y="4206240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1" y="4206240"/>
            <a:ext cx="68580" cy="129844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4298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装配工位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609307"/>
            <a:ext cx="3154679" cy="8185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2E9E6B"/>
                </a:solidFill>
                <a:latin typeface="Arial"/>
                <a:ea typeface="微软雅黑"/>
              </a:rPr>
              <a:t>两枪完成樘绑定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一枪扫五金批次建包，一枪在工位绑定到樘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577840"/>
            <a:ext cx="68580" cy="713232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配套设计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994074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返工件强制生成返工作业单并指定插回哪道工序，返完强制复检；托盘进了产线未解绑的，自动上异常看板。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优势四 · 成本与交付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订单赚不赚钱当天有底，发货有齐套硬闸门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成本实时归集 + 齐套校验 —— 前者让报价有底，后者把返工损失拦在厂内。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883664"/>
          </a:xfrm>
          <a:prstGeom prst="roundRect">
            <a:avLst>
              <a:gd name="adj" fmla="val 2912"/>
            </a:avLst>
          </a:prstGeom>
          <a:solidFill>
            <a:srgbClr val="FBF0D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883664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成本：从「年底算账」到「接单当天有底」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10912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标准成本在下单当天就算出来，报价心里有底；</a:t>
            </a:r>
          </a:p>
          <a:p>
            <a:pPr algn="l">
              <a:spcBef>
                <a:spcPts val="3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生产过程中实际成本往上走，亏损单提前亮红灯，而不是等结账才发现。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收款分段计划（定金 / 发货款 / 安装尾款），哪笔超期了自动提醒销售去催。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376672" cy="1883664"/>
          </a:xfrm>
          <a:prstGeom prst="roundRect">
            <a:avLst>
              <a:gd name="adj" fmla="val 2912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83664"/>
            <a:ext cx="68580" cy="188366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90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齐套：发货前的一道硬闸门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299898"/>
            <a:ext cx="4992624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一樘门缺任何一个件，出不了库。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而且系统直接指出来：缺什么、缺在哪道工序、该找谁催。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货发到工地才发现少件的返工损失，从此拦在厂里。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50208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齐套是排产的第一约束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齐套视图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按订单列出每樘门的门扇、门套、五金包、花件包各自走到哪道工序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4710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4710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4166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缺件标红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4166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缺哪个件标红，缺件来自哪道工序或哪张采购单一键定位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2492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缺口计算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1948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需求 − 库存 − 在途 = 缺口；关键路径件（如开模打样件）交期单独预警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0274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0274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一键转申请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9730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缺口一键转采购申请，采购员不用等电话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68580" cy="67665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为什么齐套要放在排产阶段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994074"/>
            <a:ext cx="10671048" cy="1726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齐套视图把缺口提前暴露在排产阶段，而不是装配前夜 —— 缺件在计划期发现，还有时间补；在装配前夜发现，只能停工等料。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三 · 系统怎么搭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总体架构：五层 + 八个入口，一个账号走遍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为什么不是买一套 ERP、一套 MES、一套图纸管理拼起来 —— 因为这套系统数据天生在一处。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2743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接入层 · 八个入口，一个账号走遍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PC 管理端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9500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6932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车间工位机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073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9505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PDA 扫码枪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4646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2078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手机小程序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7219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4651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客户 / 经销商门户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3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供应商 / 外协门户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2364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9796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车间大屏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4937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72369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第三方系统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688336"/>
            <a:ext cx="36576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业务应用层 · 一条业务流，从接单到售后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CRM + 量尺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10358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37790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配置报价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3788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1220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销售订单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7219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4651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订单设计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0649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68081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图纸管理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1511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计划排产 + 齐套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采购 / 委外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10358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37790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生产执行 MES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3788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1220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质量管理 QMS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7219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4651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仓储 WMS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40649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8081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发运 / 安装 / 售后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84080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11511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财务（业财一体）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041648"/>
            <a:ext cx="36576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能力中台层 · 配好的引擎，不再重复造轮子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主数据 MDM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32073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59505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配置器引擎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97219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4651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BOM / 下料公式引擎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2364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89796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标识与追溯中心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三维轻量化服务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32073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59505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规则引擎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7219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4651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集成中台 API 网关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2364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89796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BI 报表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21808"/>
            <a:ext cx="11055096" cy="402336"/>
          </a:xfrm>
          <a:prstGeom prst="roundRect">
            <a:avLst>
              <a:gd name="adj" fmla="val 8181"/>
            </a:avLst>
          </a:prstGeom>
          <a:solidFill>
            <a:srgbClr val="FBEBDD"/>
          </a:solidFill>
          <a:ln w="1778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" y="5394960"/>
            <a:ext cx="1078992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车间边缘节点层（断网不停产）：码池缓存与本地出码 │ 任务 / 图纸快照下发 │ 防错校验本地执行 │ 断网报工暂存与恢复补传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779008"/>
            <a:ext cx="11055096" cy="402336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5852160"/>
            <a:ext cx="1078992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设备与 IoT 层：激光打标机 │ 数控裁板锯 │ CNC / 开槽 │ 封边机 │ 热压机 │ 喷涂线 │ 采集网关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四 · 车间底座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断网不停产：麻烦留给系统，不甩给工人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车间最现实的问题是网络。网络一抖，打码停了，整条线就停了。所以产线关键动作不走云端实时依赖。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码池缓存与本地出码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边缘节点提前把码池下发到车间本地，断网时本地出码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4166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任务 / 图纸快照下发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166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断网时本地看图，现场看到的一定是当前该用的那一版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1948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防错校验本地执行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8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校验在本地跑，不依赖云端，断网时防错照样生效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9730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断网报工暂存 / 恢复补传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9730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报工先存在本地；网络恢复后受控回传，不会重复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584448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万一云端和本地记录打架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矛盾进裁决队列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55264" y="41148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0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每条带两侧证据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17336" y="41148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E9E6B"/>
                </a:solidFill>
                <a:latin typeface="Arial"/>
                <a:ea typeface="微软雅黑"/>
              </a:rPr>
              <a:t>班组长在线裁决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979408" y="41148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53144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E9E6B"/>
                </a:solidFill>
                <a:latin typeface="Arial"/>
                <a:ea typeface="微软雅黑"/>
              </a:rPr>
              <a:t>工时与计件一分不少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18304"/>
            <a:ext cx="11055096" cy="1517904"/>
          </a:xfrm>
          <a:prstGeom prst="roundRect">
            <a:avLst>
              <a:gd name="adj" fmla="val 3614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718304"/>
            <a:ext cx="68580" cy="151790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482364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配套的标识工程细节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134538"/>
            <a:ext cx="10671048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转码接力：高温会把码打糊，所以旧码换新码，谱系关系记录在案，追溯链不断。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现场补码：码被污染扫不出来，工人在工位机上指认补码，系统验证工序进度一致后发新码 —— 一个坏码堵不住一条产线。</a:t>
            </a:r>
          </a:p>
          <a:p>
            <a:pPr algn="l">
              <a:spcBef>
                <a:spcPts val="500"/>
              </a:spcBef>
            </a:pPr>
            <a:r>
              <a:rPr sz="1060" b="0">
                <a:solidFill>
                  <a:srgbClr val="6B7A90"/>
                </a:solidFill>
                <a:latin typeface="Arial"/>
                <a:ea typeface="微软雅黑"/>
              </a:rPr>
              <a:t>· 物理世界一定会出问题，设计要接受这件事，而不是要求「码不许坏」。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五 · 权限模型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角色 × 菜单权限矩阵：每个人只看到与自己相关的菜单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18 个一级菜单，每个人只看到 3~8 个 —— 工人不会在财务菜单里迷路。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47088"/>
          <a:ext cx="1105508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49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</a:tblGrid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菜单 / 角色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集团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厂区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销售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技术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计划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采购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车间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质检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仓管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财务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交付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工作台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销售管理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设计管理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计划管理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采购与委外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限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质量管理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仓储管理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限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追溯中心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系统管理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限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230368"/>
            <a:ext cx="1105509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✓ 可操作　查 只读　— 不可见（菜单不显示）　限 限定说明（同一菜单的可见粒度不同）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431536"/>
            <a:ext cx="3502152" cy="859536"/>
          </a:xfrm>
          <a:prstGeom prst="roundRect">
            <a:avLst>
              <a:gd name="adj" fmla="val 638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431536"/>
            <a:ext cx="68580" cy="8595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497372"/>
            <a:ext cx="32278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0F1B2D"/>
                </a:solidFill>
                <a:latin typeface="Arial"/>
                <a:ea typeface="微软雅黑"/>
              </a:rPr>
              <a:t>组织 / 厂区隔离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08268"/>
            <a:ext cx="3227832" cy="427939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>A 厂区的仓管看不到 B 厂区的库存；A 厂区的会计碰不到 B 厂区的账。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5431536"/>
            <a:ext cx="3502152" cy="859536"/>
          </a:xfrm>
          <a:prstGeom prst="roundRect">
            <a:avLst>
              <a:gd name="adj" fmla="val 638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5431536"/>
            <a:ext cx="68580" cy="8595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5497372"/>
            <a:ext cx="32278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0F1B2D"/>
                </a:solidFill>
                <a:latin typeface="Arial"/>
                <a:ea typeface="微软雅黑"/>
              </a:rPr>
              <a:t>集团穿透需授权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5808268"/>
            <a:ext cx="3227832" cy="427939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>集团管理层可以穿透看全部厂区，但要单独授权，而且全程留痕。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5431536"/>
            <a:ext cx="3502152" cy="859536"/>
          </a:xfrm>
          <a:prstGeom prst="roundRect">
            <a:avLst>
              <a:gd name="adj" fmla="val 638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1" y="5431536"/>
            <a:ext cx="68580" cy="85953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1" y="5497372"/>
            <a:ext cx="32278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0F1B2D"/>
                </a:solidFill>
                <a:latin typeface="Arial"/>
                <a:ea typeface="微软雅黑"/>
              </a:rPr>
              <a:t>外部单位是第三道锁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1" y="5808268"/>
            <a:ext cx="3227832" cy="427939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>供应商与外协登录门户，只能看到发给它的那部分单据；看图纸强制叠加动态水印（账号与时间实时打在图上，截图可溯源）；委托工单结算关闭后访问权自动收回；下载默认关闭且全程审计。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六 · 端到端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一樘非标门在系统里走一遍：功能就都串起来了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接单与设计 → 拆单与图纸 → 计划与采购 → 车间 → 质量 → 仓储与发货 → 安装与售后。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3167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83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① 接单与设计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73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配置器选型实时出价，报价一键转订单；订单一确认，结构预拆与设计任务同时启动；客户每轮驳回意见带批注留档，定稿版本锁定。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88366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7304" y="1883664"/>
            <a:ext cx="68580" cy="13167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6759" y="197583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② 拆单与图纸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59" y="228673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拆单结果是一棵产品结构树，每个节点挂工艺路线和图纸，双向可跳；裁板清单自动算出用料与损耗；图纸变更走 ECN，影响分析自动列出受影响的订单。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79" y="188366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79" y="1883664"/>
            <a:ext cx="68580" cy="131673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7135" y="197583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③ 计划与采购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7135" y="228673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排产板拖拽排产，产能负载与交期冲突实时提示；齐套是排产的第一约束；缺料分析自动算（需求−库存−在途=缺口），缺口一键转采购申请。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4670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46704"/>
            <a:ext cx="68580" cy="131673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3887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④ 车间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74977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工单下达自动派工到工位；报工粒度按工序配置；返工件强制生成返工作业单并强制复检；工艺参数（温度 / 压力 / 时间）跟着码挂进档案。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34670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7304" y="3346704"/>
            <a:ext cx="68580" cy="1316736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6759" y="343887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⑤ 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759" y="374977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四级检验：来料按批次、首件换型换色必检、工序按部件码、成品按产品族；首件没确认，批量报工被死死拦住；让步接收走完整流程并留痕。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7679" y="334670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7679" y="3346704"/>
            <a:ext cx="68580" cy="131673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7135" y="343887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⑥ 仓储与发货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7135" y="374977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配套包两枪绑定；项目订单按楼栋、按安装批次配箱；发运前强制齐套校验，缺一件就拦下，并指出缺的件卡在哪。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09744"/>
            <a:ext cx="11055096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809744"/>
            <a:ext cx="68580" cy="1316736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901915"/>
            <a:ext cx="10707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⑦ 安装与售后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212811"/>
            <a:ext cx="10707624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安装工按发货批次接任务，到现场先做尺寸比对；装完客户电子签字验收，这个签字同时是收尾款的凭证；售后扫码，保修期内外系统直接判断。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七 · 决策视图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老板与财务看到什么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同一份数据，不同的颗粒度；口径由后端统一计算，避免「两个数」。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202996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老板 · 移动看板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今天全厂接了多少单、产了多少樘、卡在哪个工序、哪些订单交期告急、哪笔款该收了。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68580" cy="20299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989002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厂区大屏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299898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当日计划达成、工序在制品分布、齐套缺口滚动播报，挂在车间。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68580" cy="20299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5" y="1989002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财务 · 首版范围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299898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先上「看得清」的部分：收款计划、应收台账、发票登记。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96512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96512"/>
            <a:ext cx="68580" cy="202996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01850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财务 · 后移范围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12746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凭证引擎、总账、成本这些「记得准」的重模块，排在第一优先迭代，首版不压。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096512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096512"/>
            <a:ext cx="68580" cy="2029968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4201850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多厂区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12746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如果客户是多厂区运营，跨厂汇总看板一并先上只读版。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4096512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4096512"/>
            <a:ext cx="68580" cy="20299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201850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全角色工作台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512746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每个角色登录，首页自动装配成他的样子：待办点一下直达单据，预警点一下直达处理界面。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77840"/>
            <a:ext cx="11055096" cy="694944"/>
          </a:xfrm>
          <a:prstGeom prst="roundRect">
            <a:avLst>
              <a:gd name="adj" fmla="val 7894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577840"/>
            <a:ext cx="68580" cy="69494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工作台设计原则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5994074"/>
            <a:ext cx="10671048" cy="1909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推行一套新系统，成败在头一个月的高频操作顺不顺手。把每个人每天的事装进一屏，把「找功能」变成「点待办」，培训成本和抵触情绪一起降下来。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八 · 交付节奏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八周纯开发：双周真机演示，两次硬检查点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开发期内逢双周真机演示，进度偏差当场暴露，不留到最后一周。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蓝图冲刺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10358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0358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0358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设计冻结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75150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3788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3788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W3–W4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3788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第一轮迭代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8580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7219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7219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W5–W6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7219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第二轮迭代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2011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40649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0649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0649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功能深化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05441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0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收尾交付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44368" y="2798064"/>
            <a:ext cx="3291840" cy="475488"/>
          </a:xfrm>
          <a:prstGeom prst="roundRect">
            <a:avLst>
              <a:gd name="adj" fmla="val 6923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2889504"/>
            <a:ext cx="3255264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DE7A33"/>
                </a:solidFill>
                <a:latin typeface="Arial"/>
                <a:ea typeface="微软雅黑"/>
              </a:rPr>
              <a:t>W4 末 · 端到端真机演示（下单 → 打码 → 报工 → 追溯）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2798064"/>
            <a:ext cx="3291840" cy="475488"/>
          </a:xfrm>
          <a:prstGeom prst="roundRect">
            <a:avLst>
              <a:gd name="adj" fmla="val 6923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2889504"/>
            <a:ext cx="3255264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DE7A33"/>
                </a:solidFill>
                <a:latin typeface="Arial"/>
                <a:ea typeface="微软雅黑"/>
              </a:rPr>
              <a:t>W6 末 · 全功能真机演示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438144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开发完成之后 · 按进度与现场情况动态排期，不预埋拍脑袋的日期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6B7A90"/>
                </a:solidFill>
                <a:latin typeface="Arial"/>
                <a:ea typeface="微软雅黑"/>
              </a:rPr>
              <a:t>集成调试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610612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79776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52928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6B7A90"/>
                </a:solidFill>
                <a:latin typeface="Arial"/>
                <a:ea typeface="微软雅黑"/>
              </a:rPr>
              <a:t>数据迁移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823460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992624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65776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6B7A90"/>
                </a:solidFill>
                <a:latin typeface="Arial"/>
                <a:ea typeface="微软雅黑"/>
              </a:rPr>
              <a:t>分层培训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036308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05472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8624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2F6BE4"/>
                </a:solidFill>
                <a:latin typeface="Arial"/>
                <a:ea typeface="微软雅黑"/>
              </a:rPr>
              <a:t>上线试点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49156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418319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2E9E6B"/>
                </a:solidFill>
                <a:latin typeface="Arial"/>
                <a:ea typeface="微软雅黑"/>
              </a:rPr>
              <a:t>全工序推广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370832"/>
            <a:ext cx="5394960" cy="1517904"/>
          </a:xfrm>
          <a:prstGeom prst="roundRect">
            <a:avLst>
              <a:gd name="adj" fmla="val 3614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370832"/>
            <a:ext cx="68580" cy="15179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476170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两个硬检查点（W4 / W6）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4787066"/>
            <a:ext cx="5010912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评估已完成功能 vs 计划、阻塞项数量。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偏差超阈值 → 立即启动范围降级：先保核心主线，顺延项明确列出。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D14B45"/>
                </a:solidFill>
                <a:latin typeface="Arial"/>
                <a:ea typeface="微软雅黑"/>
              </a:rPr>
              <a:t>原则：顺延的明说，不静默延期。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5352" y="4334256"/>
            <a:ext cx="5376672" cy="1591056"/>
          </a:xfrm>
          <a:prstGeom prst="roundRect">
            <a:avLst>
              <a:gd name="adj" fmla="val 3448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45352" y="4334256"/>
            <a:ext cx="68580" cy="159105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4439594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上线时车间先跑三道工序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3096" y="4750490"/>
            <a:ext cx="4992624" cy="10870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0F1B2D"/>
                </a:solidFill>
                <a:latin typeface="Arial"/>
                <a:ea typeface="微软雅黑"/>
              </a:rPr>
              <a:t>选择标准是「能覆盖全部关键机制的」：</a:t>
            </a:r>
          </a:p>
          <a:p>
            <a:pPr algn="l">
              <a:spcBef>
                <a:spcPts val="200"/>
              </a:spcBef>
            </a:pPr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· 起点工序 → 覆盖标识的起点（打码）</a:t>
            </a:r>
          </a:p>
          <a:p>
            <a:pPr algn="l">
              <a:spcBef>
                <a:spcPts val="200"/>
              </a:spcBef>
            </a:pPr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· 有工艺参数的工序 → 验证数采</a:t>
            </a:r>
          </a:p>
          <a:p>
            <a:pPr algn="l">
              <a:spcBef>
                <a:spcPts val="200"/>
              </a:spcBef>
            </a:pPr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· 最复杂的工序 → 验证风险最高的机制（批量闭环、转码）</a:t>
            </a:r>
          </a:p>
          <a:p>
            <a:pPr algn="l">
              <a:spcBef>
                <a:spcPts val="400"/>
              </a:spcBef>
            </a:pPr>
            <a:r>
              <a:rPr sz="1040" b="1">
                <a:solidFill>
                  <a:srgbClr val="2E9E6B"/>
                </a:solidFill>
                <a:latin typeface="Arial"/>
                <a:ea typeface="微软雅黑"/>
              </a:rPr>
              <a:t>三道跑通，其余工序的推广就是复制。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九 · 交付范围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首版分三层，后移清单当场认可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后移不等于不做：首版里数据接口和菜单位都留好了，迭代直接生长，不推倒重来。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078992"/>
          </a:xfrm>
          <a:prstGeom prst="roundRect">
            <a:avLst>
              <a:gd name="adj" fmla="val 5084"/>
            </a:avLst>
          </a:prstGeom>
          <a:solidFill>
            <a:srgbClr val="E2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0789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93392"/>
            <a:ext cx="49377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2E9E6B"/>
                </a:solidFill>
                <a:latin typeface="Arial"/>
                <a:ea typeface="微软雅黑"/>
              </a:rPr>
              <a:t>第一层 · 核心主线（全量交付）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4937760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系统管理、工作台、基础数据、销售订单、拆单图纸、生产执行全套（打码、报工、防错、托盘、转码、计件、返工、冲突裁决）、四级检验、批次仓储、追溯中心、工位机与 PDA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5394960" cy="1078992"/>
          </a:xfrm>
          <a:prstGeom prst="roundRect">
            <a:avLst>
              <a:gd name="adj" fmla="val 5084"/>
            </a:avLst>
          </a:prstGeom>
          <a:solidFill>
            <a:srgbClr val="E4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090672"/>
            <a:ext cx="68580" cy="10789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00400"/>
            <a:ext cx="49377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2F6BE4"/>
                </a:solidFill>
                <a:latin typeface="Arial"/>
                <a:ea typeface="微软雅黑"/>
              </a:rPr>
              <a:t>第二层 · 高价值（并行交付）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11296"/>
            <a:ext cx="4937760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线索客户量尺报价、设计任务最小版、项目台账、排产与齐套、采购委外、发货安装、标准报表首批、小程序审批与销售端、审批流设计器、车间大屏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5394960" cy="1078992"/>
          </a:xfrm>
          <a:prstGeom prst="roundRect">
            <a:avLst>
              <a:gd name="adj" fmla="val 5084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297680"/>
            <a:ext cx="68580" cy="10789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407408"/>
            <a:ext cx="49377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D89A28"/>
                </a:solidFill>
                <a:latin typeface="Arial"/>
                <a:ea typeface="微软雅黑"/>
              </a:rPr>
              <a:t>第三层 · 裁剪版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18304"/>
            <a:ext cx="4937760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财务先上收款计划与应收台账；集团管控先上跨厂只读看板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883664"/>
            <a:ext cx="5376672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明确后移的模块及理由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45352" y="2212848"/>
          <a:ext cx="5376671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735"/>
                <a:gridCol w="3010936"/>
              </a:tblGrid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后移模块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为什么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业财全套（凭证、总账、成本、税务）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开发密度最大、出错直接连着税务，硬压必然砸质量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三个外部门户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要牵着外部单位的账号、培训和意愿走，不确定性最高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关键件专项采购、参数化下料引擎、三维预览、集团穿透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价值需要更长的消化期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245352" y="4315968"/>
            <a:ext cx="5376672" cy="1572768"/>
          </a:xfrm>
          <a:prstGeom prst="roundRect">
            <a:avLst>
              <a:gd name="adj" fmla="val 3488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4315968"/>
            <a:ext cx="68580" cy="15727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421306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迭代排队（按价值）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4732202"/>
            <a:ext cx="4992624" cy="10687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第一批：业财全套 + 客户门户 —— 财务记得准、客户体验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第二批：关键件专项 + 套料余料 —— 交期与材料成本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第三批：三维与增强现实 —— 营销差异化</a:t>
            </a:r>
          </a:p>
          <a:p>
            <a:pPr algn="l">
              <a:spcBef>
                <a:spcPts val="5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首版已预留数据接口与菜单位，迭代直接生长。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577840"/>
            <a:ext cx="68580" cy="71323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994074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0F1B2D"/>
                </a:solidFill>
                <a:latin typeface="Arial"/>
                <a:ea typeface="微软雅黑"/>
              </a:rPr>
              <a:t>这份后移清单需要在今天的会上得到认可 —— 它就是两个月开发承诺的对价。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 · 对价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八周的排期是激进的：每一条前提都写清楚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把「两个月」从口号变成一份双边对价 —— 甲方拖延一周，开发窗口就少一周。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3949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客户方要做的六件事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9696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39696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85415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关键用户投入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14015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2185415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头两周投入不低于一半工时；流程签字一周内完成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蓝图每拖一周，开发窗口就少一周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2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816352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862072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主数据与单价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90672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2862072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物料客商期初库存第五周前清洗完；计件单价第五周前定稿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数据不齐，试点验证就是失真的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93008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93008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38727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设备协议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67328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816" y="3538727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品牌、型号、通信协议第一周确认，厂商配合联调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这条不通，打码主线直接受冲击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69663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169663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15383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旧系统导出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443983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4215383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第一周验证导出能力；导不出就降级为只迁汇总余额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历史追溯的范围要书面确认接受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46320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46320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892040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组织到位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20640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上线期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6" y="4892040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培训期和试点期把工人组织到位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培训不到位，上线数据就不可信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522976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522976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568696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变更纪律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797296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全程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6816" y="5568696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设计冻结之后认变更纪律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否则范围失控，工期守不住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1847088"/>
            <a:ext cx="5376672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方案方要做的五件事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213969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213969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21870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满编且稳定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52959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五条开发线满编，主力稳定不中途换人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5352" y="296265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45352" y="296265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4166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老设备缓冲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35255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老设备对接预留 15%~20% 缓冲，专职工程师第一周就上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45352" y="3785615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45352" y="3785615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86462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双周真机演示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17551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雷打不动，用真机真数据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45352" y="460857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45352" y="460857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8758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两次硬检查点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99847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W4、W6 评估；偏差超阈值启动范围降级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45352" y="543153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45352" y="543153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51054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不静默延期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582143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先保主线，顺延的明说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5352" y="5541264"/>
            <a:ext cx="537667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45352" y="5541264"/>
            <a:ext cx="68580" cy="7498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83096" y="56466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口径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3096" y="5957498"/>
            <a:ext cx="4992624" cy="24579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33425C"/>
                </a:solidFill>
                <a:latin typeface="Arial"/>
                <a:ea typeface="微软雅黑"/>
              </a:rPr>
              <a:t>两个月是纯开发周期，不含集成调试、数据迁移、培训与上线部署，这一段按实际进度滚动排期。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十一 · 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开发完成时，您验收什么：不认文档，认真机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当场做这几件事，全过即交卷。注意其中几条是负面测试——测「拦不拦得住」。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83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① 全流程真机走完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73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新建一张订单，从配置、拆单、裁板清单、打码、报工、检验、入库到扫码出库，全流程在系统里走完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97583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② 追溯三秒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28673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随便扫一个部件码，三秒调出全生命周期档案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68580" cy="10607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97583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③ 负面测试 · 首件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28673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让首件未确认的工序试批量报工 → 看系统拦不拦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072384"/>
            <a:ext cx="68580" cy="10607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6455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④ 负面测试 · 齐套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47545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让缺件的订单试发货 → 看闸门拦不拦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07238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072384"/>
            <a:ext cx="68580" cy="10607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5" y="316455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⑤ 负面测试 · 产能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5" y="347545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让产能超限的产线再派一单 → 看是否硬拦截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307238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3072384"/>
            <a:ext cx="68580" cy="10607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16455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⑥ 逐角色核对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47545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十三个角色挨个登录，核对各自工作台和菜单跟权限矩阵图是否一致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89120"/>
            <a:ext cx="11055096" cy="1481328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89120"/>
            <a:ext cx="68580" cy="14813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49445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三个层次的验收，三种不同的证据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805354"/>
            <a:ext cx="10671048" cy="97731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开发阶段（W8）：真机、真数据、真设备。禁止 Mock。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上线阶段（三工序试点）：连续两周数据完整、及时、可对账；一线使用率达标。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成效阶段（上线 +3 个月）：交期达成率、平均交付周期、成材率、呆滞金额、库存周转、毛利准确率、应收周转、追溯耗时 —— 与上线前基线对比。</a:t>
            </a:r>
          </a:p>
          <a:p>
            <a:pPr algn="l">
              <a:spcBef>
                <a:spcPts val="500"/>
              </a:spcBef>
            </a:pPr>
            <a:r>
              <a:rPr sz="1060" b="1">
                <a:solidFill>
                  <a:srgbClr val="2F6BE4"/>
                </a:solidFill>
                <a:latin typeface="Arial"/>
                <a:ea typeface="微软雅黑"/>
              </a:rPr>
              <a:t>原则：验收不看完成度百分比，看能不能当场跑起来；汇报不靠文档，靠真机演示。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十二 · 要定的事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会上需要拍板的，和会后需要核实的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把决策项列成清单，不留模糊空间；需要客户配合的事项，每一项都定到责任人。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3949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D14B45"/>
                </a:solidFill>
                <a:latin typeface="Arial"/>
                <a:ea typeface="微软雅黑"/>
              </a:rPr>
              <a:t>需要现场拍板（6 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9696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39696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角色与权限表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跟实际组织对不对得上，一人多岗的情况盘出来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98063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798063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7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首版范围分层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81527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后移清单认不认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56432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456432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11296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开发计划与配合事项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9896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认不认；每项定到责任人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14800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14800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9663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试点工序先行策略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98264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接不接受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73168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773168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28031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设计冻结后的变更纪律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56631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双方确认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431536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431536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86399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项目指导委员会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4999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建议一把手任主席；关键用户清单连同投入比例写进章程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1847088"/>
            <a:ext cx="5376672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D89A28"/>
                </a:solidFill>
                <a:latin typeface="Arial"/>
                <a:ea typeface="微软雅黑"/>
              </a:rPr>
              <a:t>会后需要核实（8 项，前两项建议一周内给出）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2139696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实际运营的厂区数量与规模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157984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决定跨厂看板本期上不上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2573121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2638044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打标机的品牌、型号、通信协议、厂商联系方式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656332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第一周的蓝图冲刺就等它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3071469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3136391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旧系统能导出哪些数据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3154679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决定迁移范围与历史追溯深度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3569817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3634740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计件工序清单与现行单价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3653028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决定计件模块能否上首版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5352" y="4068165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4133087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外协厂的数量、模式与能力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5712" y="4151375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决定门户是自建还是系统内代录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5352" y="4566513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5352" y="4631436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关键件 / 长周期件采购占比与周期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4649723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决定齐套预警的关键路径项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5352" y="5064861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5352" y="5129784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客户确认设计的现行习惯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5712" y="5148072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决定首版走电子签还是代录留痕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5352" y="5563209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5628132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移动办公平台（企业微信 / 钉钉 / 其他）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712" y="5646420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决定小程序与消息通道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45352" y="6061557"/>
            <a:ext cx="537667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45352" y="5760720"/>
            <a:ext cx="5376672" cy="548640"/>
          </a:xfrm>
          <a:prstGeom prst="roundRect">
            <a:avLst>
              <a:gd name="adj" fmla="val 8000"/>
            </a:avLst>
          </a:prstGeom>
          <a:solidFill>
            <a:srgbClr val="FBF0DA"/>
          </a:solidFill>
          <a:ln w="12700">
            <a:solidFill>
              <a:srgbClr val="D8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91656" y="5870448"/>
            <a:ext cx="5084064" cy="3291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D89A28"/>
                </a:solidFill>
                <a:latin typeface="Arial"/>
                <a:ea typeface="微软雅黑"/>
              </a:rPr>
              <a:t>中小制造企业上系统，成败第一因素不是技术，是一把手的参与度。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这套方案的本质：把「承诺」写成「对价」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不讲功能清单，讲三件事：客户得到什么、我们做什么、需要客户做什么。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5727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① 客户得到什么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10912" cy="10687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六项优势，每一项都换算成交期天数、资金占用、返工损失或投标胜率。</a:t>
            </a:r>
          </a:p>
          <a:p>
            <a:pPr algn="l">
              <a:spcBef>
                <a:spcPts val="5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不承诺做不到的：8 周是纯开发周期，上线节奏动态推进，不预埋拍脑袋的日期。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376672" cy="1572768"/>
          </a:xfrm>
          <a:prstGeom prst="roundRect">
            <a:avLst>
              <a:gd name="adj" fmla="val 3488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83664"/>
            <a:ext cx="68580" cy="15727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90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② 我们做什么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299898"/>
            <a:ext cx="4992624" cy="10687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五层架构 + 八个入口；一个码串起全生命周期；断网不停产；角色 × 菜单权限矩阵 + 外部单位三道锁。</a:t>
            </a:r>
          </a:p>
          <a:p>
            <a:pPr algn="l">
              <a:spcBef>
                <a:spcPts val="5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交付：八周计划 + 双周真机演示 + 两次硬检查点 + 上线五步 + 范围三层。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1055096" cy="1517904"/>
          </a:xfrm>
          <a:prstGeom prst="roundRect">
            <a:avLst>
              <a:gd name="adj" fmla="val 3614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68580" cy="15179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76293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③ 需要客户做什么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73834"/>
            <a:ext cx="10671048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六件事写进章程并定到人：关键用户头两周投入不低于一半工时、主数据与单价按时定稿、设备协议第一周确认、旧系统导出能力第一周验证、培训期把工人组织到位、设计冻结后认变更纪律。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D14B45"/>
                </a:solidFill>
                <a:latin typeface="Arial"/>
                <a:ea typeface="微软雅黑"/>
              </a:rPr>
              <a:t>后移清单当场认可 —— 它就是两个月开发承诺的对价。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58384"/>
            <a:ext cx="11055096" cy="877824"/>
          </a:xfrm>
          <a:prstGeom prst="roundRect">
            <a:avLst>
              <a:gd name="adj" fmla="val 625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486400"/>
            <a:ext cx="1051560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rial"/>
                <a:ea typeface="微软雅黑"/>
              </a:rPr>
              <a:t>两条最值钱的方法论：① 找客户已投入但没被利用的资产 —— 把设备里的码激活成全厂数据主线；② 找「可解耦的两段」让串行变并行 —— 两段拆单压缩交期三周，不需要任何设备投入。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