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这一页的用意是不从功能讲起，从客户的损失讲起。每一条痛点后面都必须能挂上钱或天数，挂不上的痛点不要讲。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这一页是对齐动机，不是介绍产品。老板点头的地方应该在第三张卡：他终于不用事事亲自盯。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八样里前六样直接对应钱，后两样对应「不出事」。讲的时候按客户最痛的那一条展开，不要八条平均用力 —— 平均用力等于没有重点。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这一页最容易被追问。不要躲：主动说「这些是口径，您把数字报给我，我当场算」。敢算，信任就建立了；含糊，前面全白讲。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节奏页的核心信息是「每一步都能停」。老板怕的是被绑住，不是怕花钱。时间口径要加一句：以现场评估为准。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这一页会让客户更信任你。敢于劝退的供应商，反而更容易被选中。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会后 48 小时内必须把症断书发过去。这一步的完成率，基本等于成交率。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这一页是留给客户的「对内讲稿」。他能不能说服股东和家人，决定这一单能不能成。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一 · 先说账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卷料上最贵的四样东西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功能清单放在后面。先把您每年在卷料上漏掉的钱，一样一样摆到桌面上。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 · 20 分钟面谈版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2571750" cy="50292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14B45"/>
                </a:solidFill>
                <a:latin typeface="Arial"/>
                <a:ea typeface="微软雅黑"/>
              </a:rPr>
              <a:t>第一样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睡着的钱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仓里压着多少卷料、压了多久，靠人盘靠眼看。30/90/180 天没有分档，等发现时钱已躺了半年。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4710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4710" y="1883664"/>
            <a:ext cx="2571750" cy="50292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7590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89A28"/>
                </a:solidFill>
                <a:latin typeface="Arial"/>
                <a:ea typeface="微软雅黑"/>
              </a:rPr>
              <a:t>第二样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7590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说不清的料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7590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一卷料投了多少、用掉多少、剩多少、亏在哪，没有卷级口径。月度盘亏只能整体认掉。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2492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2492" y="1883664"/>
            <a:ext cx="2571750" cy="50292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5372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E7A33"/>
                </a:solidFill>
                <a:latin typeface="Arial"/>
                <a:ea typeface="微软雅黑"/>
              </a:rPr>
              <a:t>第三样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贱卖的货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5372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等级只能单向降（A→B→C）。一旦发错，高等级料按低等级价结算，价差追不回来。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0274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0274" y="1883664"/>
            <a:ext cx="2571750" cy="5029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3153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6E56CF"/>
                </a:solidFill>
                <a:latin typeface="Arial"/>
                <a:ea typeface="微软雅黑"/>
              </a:rPr>
              <a:t>第四样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3153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追不到的责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3153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从成品倒推到哪一卷、哪个批号、哪家供应商，全靠翻台账。客户质询和体系检查都卡在这。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169663"/>
            <a:ext cx="11055096" cy="1060704"/>
          </a:xfrm>
          <a:prstGeom prst="roundRect">
            <a:avLst>
              <a:gd name="adj" fmla="val 5172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169663"/>
            <a:ext cx="68580" cy="10607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275002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请注意：这四样不是「软件需求」，是财务报表上的科目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585898"/>
            <a:ext cx="10671048" cy="5566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① 存货 → 资金占用与跌价准备　② 生产成本 → 材料超耗与盘亏　③ 收入 → 等级错发的价差　④ 质量成本 → 追溯不力的索赔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58384"/>
            <a:ext cx="11055096" cy="841248"/>
          </a:xfrm>
          <a:prstGeom prst="roundRect">
            <a:avLst>
              <a:gd name="adj" fmla="val 6521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5449824"/>
            <a:ext cx="10506456" cy="6583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一句话：这套系统的第一目标不是「让车间上网」，是让这四笔钱有主人、有口径、有预警。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二 · 说白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说到底，您买的是三件事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先说一句实话：理性的投资回报率只排第四。真正让老板拍板的是这三件。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 · 20 分钟面谈版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35021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3502152" cy="502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1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Arial"/>
                <a:ea typeface="微软雅黑"/>
              </a:rPr>
              <a:t>少赔钱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615184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呆滞资金提前一个月被叫醒；等级错发被系统拦住；卷料超耗有口径可查。这是现金，不是效率。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83664"/>
            <a:ext cx="35021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83664"/>
            <a:ext cx="3502152" cy="502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084831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Arial"/>
                <a:ea typeface="微软雅黑"/>
              </a:rPr>
              <a:t>多接单的底气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615184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交期敢承诺、追溯拿得出、对账不扯皮。大客户投标要的就是这两样：可追溯 + 有台账。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1883664"/>
            <a:ext cx="35021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1883664"/>
            <a:ext cx="3502152" cy="5029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084831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Arial"/>
                <a:ea typeface="微软雅黑"/>
              </a:rPr>
              <a:t>不用我天天盯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615184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手机上一眼看三个数：在制、库存与呆滞、异常与待办。不用等中层转述，也不用盯现场。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24528"/>
            <a:ext cx="11055096" cy="1883664"/>
          </a:xfrm>
          <a:prstGeom prst="roundRect">
            <a:avLst>
              <a:gd name="adj" fmla="val 291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224528"/>
            <a:ext cx="68580" cy="1883664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329866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而第四件事 —— 算得清回报 —— 只要上面三件成立，账自然会好看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640762"/>
            <a:ext cx="10671048" cy="13796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如果这三件事里有两件跟您无关，那这个项目大概率不该现在做 —— 这也是我们筛选客户的标准。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下面一页把它拆成八样具体的东西，每一样都能对应到钱、天数或风险。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三 · 您得到什么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这套系统给您的八样东西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不讲架构、不讲菜单。每一样都换算成钱、天数或风险。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 · 20 分钟面谈版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①  呆滞预警三档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30/90/180 天分档，每一档对应一个动作：催用、改配、处置。不是只看报表干着急。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4710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4710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9302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②  等级匹配发货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9302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A 级料发给低等级订单，系统直接拦住；降级必须审批留痕，价差不白丢。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③  超产上限加倒冲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7084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产量超订单就报警；卷料消耗按 ±1~2 米口径自动倒冲，盘亏逐卷说清。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4865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④  成本到卷到单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4865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单订单的材料成本、损耗、加工费当月可见，赚亏不用等年底算总账。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⑤  一键反查档案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成品 → 卷 → 批号 → 供应商，3 分钟出档案。客户质询、体系检查都拿得出。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4710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94710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59302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⑥  发货齐套校验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9302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少发、漏发、错规格拦在厂里，不让它变成工地上的返工和索赔。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2492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2492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7084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⑦  特采让步留痕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7084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例外可以走，但必须有人签字。下次客户追究，拿得出当时谁批的。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0274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0274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14865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⑧  与总账各管一段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4865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15 秒同步、失败重试、异常进死信、每晚对账。不重复录单，也不互相打架。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四 · 算账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算一笔账：投入靠什么赚回来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下面是算法和口径，不是报价、也不是承诺值。把贵厂的数字代进去，一次算清。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 · 20 分钟面谈版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83664"/>
          <a:ext cx="11055095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2121"/>
                <a:gridCol w="3979834"/>
                <a:gridCol w="46431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算哪一笔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怎么算（口径）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说明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呆滞资金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呆滞金额 × 年化资金成本 × 提前天数 ÷ 365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分档预警让第一批呆滞提前约一个月进视野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等级错发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年错发次数 × 单次数量 × 等级价差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发货校验把错误拦在出厂之前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卷料超耗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每卷少浪费 1~2 米 × 年用卷数 × 单价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倒冲口径统一后，超耗才追得下去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人工对账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每月仓财对账工时 × 12 × 人力成本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单据自动流转后，多数对账动作直接消失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一次事故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停线 + 返工 + 索赔 + 客户罚款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追溯从「翻几天台账」到「3 分钟出档案」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468112"/>
            <a:ext cx="11055096" cy="749808"/>
          </a:xfrm>
          <a:prstGeom prst="roundRect">
            <a:avLst>
              <a:gd name="adj" fmla="val 7317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468112"/>
            <a:ext cx="68580" cy="7498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573450"/>
            <a:ext cx="10671048" cy="5566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前四项是每年都在发生的小额失血，第五项是几年一次的致命伤 —— 前者决定回本速度，后者决定您敢不敢把大客户的单接进来。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 · 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多久见效：五步推进，每一步都能停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不要求您一次押上全厂。我们把风险切碎，每一步都可以停、可以看、再决定。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 · 20 分钟面谈版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4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0 步 · 走车间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67712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半天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5" y="1984248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我们到现场，指出 3 个可量化的浪费点，当场说清算法。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7" y="1984248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不满意就不往下走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624328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624328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715768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1 步 · 症断书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008376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1 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5" y="2724912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一页纸：痛点 → 数字 → 路径 → 投入区间。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7" y="2724912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内部对不齐就先停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364992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364992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56432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2 步 · 只读驾驶舱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749040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约 2 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5" y="3465576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三张老板报表 + 手机能看；零操作，不增加任何人工作量。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7" y="3465576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数据接不上我们兜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105656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105656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197096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3 步 · 单工序试点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489704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6~8 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5" y="4206240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选一道能覆盖关键机制的工序，真机跑起来。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4206240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试点不达标不推广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846320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846320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937760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4 步 · 全厂推广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5230368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按范围分期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7015" y="4946904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按厂区与工序分批推，边推边培训。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5087" y="4946904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每批独立验收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605272"/>
            <a:ext cx="11055096" cy="621792"/>
          </a:xfrm>
          <a:prstGeom prst="roundRect">
            <a:avLst>
              <a:gd name="adj" fmla="val 8823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7" y="5696712"/>
            <a:ext cx="1050645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第 2 步是从「听完方案」到「相信你能做」之间最短的一条路：只读、零操作、两周可见。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十二 · 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什么样的厂适合做，什么样的不适合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我们把筛选标准也写出来。如果对不上，说明现在不是做这件事的时候。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 · 20 分钟面谈版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390388" cy="3255264"/>
          </a:xfrm>
          <a:prstGeom prst="roundRect">
            <a:avLst>
              <a:gd name="adj" fmla="val 1685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32552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89002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适合做（五条）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99898"/>
            <a:ext cx="5006340" cy="27512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卷材是主要原料，且有多品种、多规格、多等级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有交期、追溯或合规要求（客户、体系、招标任一）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已在用进销存或总账系统，有物料编码（哪怕很乱）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年营收 5000 万以上，有专职生产管理角色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老板愿意参加双周演示，能按关键用户排出工时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883664"/>
            <a:ext cx="5390388" cy="3255264"/>
          </a:xfrm>
          <a:prstGeom prst="roundRect">
            <a:avLst>
              <a:gd name="adj" fmla="val 1685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1636" y="1883664"/>
            <a:ext cx="68580" cy="325526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79" y="1989002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暂时不适合（五条）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9379" y="2299898"/>
            <a:ext cx="5006340" cy="27512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完全手工台账，且没人愿意清洗主数据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纯代工、没有定价权、也没有交期压力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业务负责人明确反对，而您不打算处理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只想买一套软件放着看，没有对应用人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正处在剧烈转型或生死线上，系统会被第一个砍掉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85232"/>
            <a:ext cx="11055096" cy="859536"/>
          </a:xfrm>
          <a:prstGeom prst="roundRect">
            <a:avLst>
              <a:gd name="adj" fmla="val 6382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376672"/>
            <a:ext cx="10506456" cy="6766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说句实在话：不适合的项目我们会直接说。烂项目的代价，比没项目大。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十四 ·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下一步：第一件事怎么开始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不需要现在就决定买不买。先把最容易看清的几件事做了。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卷材制造执行系统 · 老板决策简报（脱敏版） · 20 分钟面谈版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11055096" cy="82296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68580" cy="822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47672"/>
            <a:ext cx="2011680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半天 · 走车间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47672"/>
            <a:ext cx="8604504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您带我们走一圈，我们在现场指出 3 个可量化的浪费点，当场说清单价与算法。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52344"/>
            <a:ext cx="11055096" cy="82296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752344"/>
            <a:ext cx="68580" cy="822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852927"/>
            <a:ext cx="2011680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1 周 · 数据体检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852927"/>
            <a:ext cx="8604504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看现有系统能导出什么、主数据乱到什么程度、设备能不能取数 —— 这决定后面要几周。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57600"/>
            <a:ext cx="11055096" cy="82296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657600"/>
            <a:ext cx="68580" cy="822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758184"/>
            <a:ext cx="2011680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1 周 · 一页症断书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758184"/>
            <a:ext cx="8604504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痛点、数字、路径、投入区间、分期建议。您可以拿它去跟股东和管理层对齐。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681728"/>
            <a:ext cx="5390388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681728"/>
            <a:ext cx="68580" cy="15361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787066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我方准备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097962"/>
            <a:ext cx="5006340" cy="103217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同规模同工序的参观安排（如果您想看）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一份数据体检清单与症断书模板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一份正式报价单：含硬件清单与年维护费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4681728"/>
            <a:ext cx="5390388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4681728"/>
            <a:ext cx="68580" cy="15361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9379" y="4787066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贵方准备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9379" y="5097962"/>
            <a:ext cx="5006340" cy="103217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半天现场时间：老板 + 生产负责人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近 12 个月的库存与产量数据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现有系统的导出权限（只读即可）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91440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一页速查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  <a:ea typeface="微软雅黑"/>
              </a:rPr>
              <a:t>这一页您可以拿去给股东、家人、管理层看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7E90AA"/>
                </a:solidFill>
                <a:latin typeface="Arial"/>
                <a:ea typeface="微软雅黑"/>
              </a:rPr>
              <a:t>卷材制造执行系统 · 老板决策简报（脱敏版） · 20 分钟面谈版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7E90AA"/>
                </a:solidFill>
                <a:latin typeface="Arial"/>
                <a:ea typeface="微软雅黑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105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买的是什么？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18105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少赔钱、多接单、不用天天盯 —— 三件事，不是一堆功能。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048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4963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要花多少钱？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4963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软件 + 硬件 + 实施 + 培训 + 年维护，一次列全；分期绑里程碑，硬件可自采。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906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1821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多久见东西？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1821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约 2 周在手机上看真实数据；6~8 周单工序真机试点；之后按批推广。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764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867911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要谁参与？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867911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一个能拍板的人 + 关键用户头两周约一半工时 + 一条变更纪律。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622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5537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最大风险？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45537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推行。对策：先让一线受益、驾驶舱零操作、只跑三道工序。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480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2395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怎么算做成？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52395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当场跑全流程 + 三处负面测试；拦不住就算我们没做完。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870448"/>
            <a:ext cx="11055096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8FA3BF"/>
                </a:solidFill>
                <a:latin typeface="Arial"/>
                <a:ea typeface="微软雅黑"/>
              </a:rPr>
              <a:t>我们不承诺做不到的事，也不接不合适的项目 —— 这是这套方案最硬的底气。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