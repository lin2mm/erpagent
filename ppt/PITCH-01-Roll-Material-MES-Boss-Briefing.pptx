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见面先说清楚：今天不讲功能。老板只关心三件事 —— 漏了多少钱、要出什么、多久见效。翻页的顺序就是谈话的顺序，别跳页。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这一页的用意是不从功能讲起，从客户的损失讲起。每一条痛点后面都必须能挂上钱或天数，挂不上的痛点不要讲。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这一页是对齐动机，不是介绍产品。老板点头的地方应该在第三张卡：他终于不用事事亲自盯。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八样里前六样直接对应钱，后两样对应「不出事」。讲的时候按客户最痛的那一条展开，不要八条平均用力 —— 平均用力等于没有重点。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这一页最容易被追问。不要躲：主动说「这些是口径，您把数字报给我，我当场算」。敢算，信任就建立了；含糊，前面全白讲。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顾虑要主动先说，别等客户问。特别是第三条：把硬件这笔「第二只靴子」自己摆出来，比被他问出来强十倍。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这页最容易被跳过，但它决定项目生死。跟老板说：系统不难，难的是让人换位置。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主动减承诺是最强的信任建立动作。念完这一页，客户会明显放松，后面谈钱也顺。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把客户的投入讲在前面。凡是回避这一页的供应商，后面都会出问题。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硬件这笔钱一定要自己先说。第二只靴子掉下来的时候，前面所有信任都会打折。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节奏页的核心信息是「每一步都能停」。老板怕的是被绑住，不是怕花钱。时间口径要加一句：以现场评估为准。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负面测试是最有说服力的一段。敢让客户测「拦不拦得住」，等于把风险自己扛了。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这一页会让客户更信任你。敢于劝退的供应商，反而更容易被选中。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这一页把老板从「执行责任人」变回「受益人和裁判」，这是成交的关键转身。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会后 48 小时内必须把症断书发过去。这一步的完成率，基本等于成交率。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这一页是留给客户的「对内讲稿」。他能不能说服股东和家人，决定这一单能不能成。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91440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7E90AA"/>
                </a:solidFill>
                <a:latin typeface="Arial"/>
                <a:ea typeface="微软雅黑"/>
              </a:rPr>
              <a:t>卷材制造执行系统 · 老板决策简报（脱敏版）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7E90AA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97280"/>
            <a:ext cx="8778240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2F6BE4"/>
                </a:solidFill>
                <a:latin typeface="Arial"/>
                <a:ea typeface="微软雅黑"/>
              </a:rPr>
              <a:t>给老板的决策简报 · 只讲钱、风险和下一步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0424160" cy="1417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  <a:ea typeface="微软雅黑"/>
              </a:rPr>
              <a:t>卷材制造执行系统</a:t>
            </a:r>
          </a:p>
          <a:p>
            <a:pPr algn="l">
              <a:spcBef>
                <a:spcPts val="800"/>
              </a:spcBef>
            </a:pPr>
            <a:r>
              <a:rPr sz="1650" b="0">
                <a:solidFill>
                  <a:srgbClr val="A9BAD4"/>
                </a:solidFill>
                <a:latin typeface="Arial"/>
                <a:ea typeface="微软雅黑"/>
              </a:rPr>
              <a:t>管住卷料 · 算清成本 · 看得见车间 —— 一页纸说清您能得到什么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04820"/>
            <a:ext cx="5120640" cy="2540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236976"/>
            <a:ext cx="10424160" cy="10972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0">
                <a:solidFill>
                  <a:srgbClr val="C6D2E4"/>
                </a:solidFill>
                <a:latin typeface="Arial"/>
                <a:ea typeface="微软雅黑"/>
              </a:rPr>
              <a:t>这份材料不讲功能清单，只回答四个问题：卷料上每年漏掉多少钱、这套系统怎么把它捞回来、您要出什么、多久能看到东西。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517136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608576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  <a:ea typeface="微软雅黑"/>
              </a:rPr>
              <a:t>30/90/180 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992624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呆滞分档预警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0048" y="4517136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4608576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  <a:ea typeface="微软雅黑"/>
              </a:rPr>
              <a:t>±1~2 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992624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自动倒冲口径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73168" y="4517136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4608576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  <a:ea typeface="微软雅黑"/>
              </a:rPr>
              <a:t>15 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4992624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与现有系统同步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6288" y="4517136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4608576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  <a:ea typeface="微软雅黑"/>
              </a:rPr>
              <a:t>一码到底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4992624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卷料全程追溯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41264"/>
            <a:ext cx="11055096" cy="694944"/>
          </a:xfrm>
          <a:prstGeom prst="roundRect">
            <a:avLst>
              <a:gd name="adj" fmla="val 7894"/>
            </a:avLst>
          </a:prstGeom>
          <a:solidFill>
            <a:srgbClr val="1B2C46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646602"/>
            <a:ext cx="10762488" cy="50182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A9BAD4"/>
                </a:solidFill>
                <a:latin typeface="Arial"/>
                <a:ea typeface="微软雅黑"/>
              </a:rPr>
              <a:t>口径声明：本简报里的钱都用「算法 + 口径」表达，不是承诺值 —— 现场把贵厂真实数字代进去，一次算清；算不清的部分我们会明说。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一 · 先说账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卷料上最贵的四样东西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功能清单放在后面。先把您每年在卷料上漏掉的钱，一样一样摆到桌面上。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2571750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2571750" cy="50292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39112"/>
            <a:ext cx="220599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14B45"/>
                </a:solidFill>
                <a:latin typeface="Arial"/>
                <a:ea typeface="微软雅黑"/>
              </a:rPr>
              <a:t>第一样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04288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睡着的钱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62656"/>
            <a:ext cx="2205990" cy="932687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仓里压着多少卷料、压了多久，靠人盘靠眼看。30/90/180 天没有分档，等发现时钱已躺了半年。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4710" y="1883664"/>
            <a:ext cx="2571750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4710" y="1883664"/>
            <a:ext cx="2571750" cy="50292"/>
          </a:xfrm>
          <a:prstGeom prst="rect">
            <a:avLst/>
          </a:prstGeom>
          <a:solidFill>
            <a:srgbClr val="D8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7590" y="2039112"/>
            <a:ext cx="220599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89A28"/>
                </a:solidFill>
                <a:latin typeface="Arial"/>
                <a:ea typeface="微软雅黑"/>
              </a:rPr>
              <a:t>第二样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7590" y="2304288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说不清的料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7590" y="2962656"/>
            <a:ext cx="2205990" cy="932687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一卷料投了多少、用掉多少、剩多少、亏在哪，没有卷级口径。月度盘亏只能整体认掉。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2492" y="1883664"/>
            <a:ext cx="2571750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2492" y="1883664"/>
            <a:ext cx="2571750" cy="50292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5372" y="2039112"/>
            <a:ext cx="220599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E7A33"/>
                </a:solidFill>
                <a:latin typeface="Arial"/>
                <a:ea typeface="微软雅黑"/>
              </a:rPr>
              <a:t>第三样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5372" y="2304288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贱卖的货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5372" y="2962656"/>
            <a:ext cx="2205990" cy="932687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等级只能单向降（A→B→C）。一旦发错，高等级料按低等级价结算，价差追不回来。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0274" y="1883664"/>
            <a:ext cx="2571750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0274" y="1883664"/>
            <a:ext cx="2571750" cy="5029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3153" y="2039112"/>
            <a:ext cx="220599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6E56CF"/>
                </a:solidFill>
                <a:latin typeface="Arial"/>
                <a:ea typeface="微软雅黑"/>
              </a:rPr>
              <a:t>第四样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3153" y="2304288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追不到的责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3153" y="2962656"/>
            <a:ext cx="2205990" cy="932687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从成品倒推到哪一卷、哪个批号、哪家供应商，全靠翻台账。客户质询和体系检查都卡在这。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169663"/>
            <a:ext cx="11055096" cy="1060704"/>
          </a:xfrm>
          <a:prstGeom prst="roundRect">
            <a:avLst>
              <a:gd name="adj" fmla="val 5172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169663"/>
            <a:ext cx="68580" cy="10607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275002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请注意：这四样不是「软件需求」，是财务报表上的科目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585898"/>
            <a:ext cx="10671048" cy="5566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0F1B2D"/>
                </a:solidFill>
                <a:latin typeface="Arial"/>
                <a:ea typeface="微软雅黑"/>
              </a:rPr>
              <a:t>① 存货 → 资金占用与跌价准备　② 生产成本 → 材料超耗与盘亏　③ 收入 → 等级错发的价差　④ 质量成本 → 追溯不力的索赔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358384"/>
            <a:ext cx="11055096" cy="841248"/>
          </a:xfrm>
          <a:prstGeom prst="roundRect">
            <a:avLst>
              <a:gd name="adj" fmla="val 6521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" y="5449824"/>
            <a:ext cx="10506456" cy="6583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rial"/>
                <a:ea typeface="微软雅黑"/>
              </a:rPr>
              <a:t>一句话：这套系统的第一目标不是「让车间上网」，是让这四笔钱有主人、有口径、有预警。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二 · 说白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说到底，您买的是三件事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先说一句实话：理性的投资回报率只排第四。真正让老板拍板的是这三件。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350215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3502152" cy="502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84831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0F1B2D"/>
                </a:solidFill>
                <a:latin typeface="Arial"/>
                <a:ea typeface="微软雅黑"/>
              </a:rPr>
              <a:t>少赔钱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615184"/>
            <a:ext cx="3063240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呆滞资金提前一个月被叫醒；等级错发被系统拦住；卷料超耗有口径可查。这是现金，不是效率。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83664"/>
            <a:ext cx="350215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83664"/>
            <a:ext cx="3502152" cy="5029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084831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0F1B2D"/>
                </a:solidFill>
                <a:latin typeface="Arial"/>
                <a:ea typeface="微软雅黑"/>
              </a:rPr>
              <a:t>多接单的底气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615184"/>
            <a:ext cx="3063240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交期敢承诺、追溯拿得出、对账不扯皮。大客户投标要的就是这两样：可追溯 + 有台账。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1883664"/>
            <a:ext cx="350215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1" y="1883664"/>
            <a:ext cx="3502152" cy="5029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084831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0F1B2D"/>
                </a:solidFill>
                <a:latin typeface="Arial"/>
                <a:ea typeface="微软雅黑"/>
              </a:rPr>
              <a:t>不用我天天盯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615184"/>
            <a:ext cx="3063240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手机上一眼看三个数：在制、库存与呆滞、异常与待办。不用等中层转述，也不用盯现场。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24528"/>
            <a:ext cx="11055096" cy="1883664"/>
          </a:xfrm>
          <a:prstGeom prst="roundRect">
            <a:avLst>
              <a:gd name="adj" fmla="val 291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224528"/>
            <a:ext cx="68580" cy="1883664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329866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而第四件事 —— 算得清回报 —— 只要上面三件成立，账自然会好看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640762"/>
            <a:ext cx="10671048" cy="137964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如果这三件事里有两件跟您无关，那这个项目大概率不该现在做 —— 这也是我们筛选客户的标准。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下面一页把它拆成八样具体的东西，每一样都能对应到钱、天数或风险。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三 · 您得到什么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这套系统给您的八样东西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不讲架构、不讲菜单。每一样都换算成钱、天数或风险。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47088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2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①  呆滞预警三档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30/90/180 天分档，每一档对应一个动作：催用、改配、处置。不是只看报表干着急。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4710" y="1847088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4710" y="1847088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9302" y="1993392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②  等级匹配发货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9302" y="2395728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A 级料发给低等级订单，系统直接拦住；降级必须审批留痕，价差不白丢。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1847088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492" y="1847088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93392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③  超产上限加倒冲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7084" y="2395728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产量超订单就报警；卷料消耗按 ±1~2 米口径自动倒冲，盘亏逐卷说清。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0274" y="1847088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847088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4865" y="1993392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④  成本到卷到单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4865" y="2395728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单订单的材料成本、损耗、加工费当月可见，赚亏不用等年底算总账。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005072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005072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151376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⑤  一键反查档案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53712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成品 → 卷 → 批号 → 供应商，3 分钟出档案。客户质询、体系检查都拿得出。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94710" y="4005072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94710" y="4005072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59302" y="4151376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⑥  发货齐套校验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9302" y="4553712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少发、漏发、错规格拦在厂里，不让它变成工地上的返工和索赔。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2492" y="4005072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2492" y="4005072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7084" y="4151376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⑦  特采让步留痕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7084" y="4553712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例外可以走，但必须有人签字。下次客户追究，拿得出当时谁批的。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0274" y="4005072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50274" y="4005072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14865" y="4151376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⑧  与总账各管一段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4865" y="4553712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15 秒同步、失败重试、异常进死信、每晚对账。不重复录单，也不互相打架。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四 · 算账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算一笔账：投入靠什么赚回来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下面是算法和口径，不是报价、也不是承诺值。把贵厂的数字代进去，一次算清。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83664"/>
          <a:ext cx="11055095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2121"/>
                <a:gridCol w="3979834"/>
                <a:gridCol w="46431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算哪一笔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怎么算（口径）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说明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呆滞资金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呆滞金额 × 年化资金成本 × 提前天数 ÷ 365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分档预警让第一批呆滞提前约一个月进视野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等级错发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年错发次数 × 单次数量 × 等级价差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发货校验把错误拦在出厂之前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卷料超耗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每卷少浪费 1~2 米 × 年用卷数 × 单价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倒冲口径统一后，超耗才追得下去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人工对账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每月仓财对账工时 × 12 × 人力成本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单据自动流转后，多数对账动作直接消失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一次事故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停线 + 返工 + 索赔 + 客户罚款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追溯从「翻几天台账」到「3 分钟出档案」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468112"/>
            <a:ext cx="11055096" cy="749808"/>
          </a:xfrm>
          <a:prstGeom prst="roundRect">
            <a:avLst>
              <a:gd name="adj" fmla="val 7317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468112"/>
            <a:ext cx="68580" cy="7498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573450"/>
            <a:ext cx="10671048" cy="5566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0F1B2D"/>
                </a:solidFill>
                <a:latin typeface="Arial"/>
                <a:ea typeface="微软雅黑"/>
              </a:rPr>
              <a:t>前四项是每年都在发生的小额失血，第五项是几年一次的致命伤 —— 前者决定回本速度，后者决定您敢不敢把大客户的单接进来。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五 · 您的顾虑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您最担心的四件事，我们直接答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不绕弯子。这四句话我们每周都听到，答案也早就准备好了。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5390388" cy="210312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2103120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29968"/>
            <a:ext cx="4914900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D14B45"/>
                </a:solidFill>
                <a:latin typeface="Arial"/>
                <a:ea typeface="微软雅黑"/>
              </a:rPr>
              <a:t>「我这帮人用不起来」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14016"/>
            <a:ext cx="4914900" cy="1444751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30" b="0">
                <a:solidFill>
                  <a:srgbClr val="33425C"/>
                </a:solidFill>
                <a:latin typeface="Arial"/>
                <a:ea typeface="微软雅黑"/>
              </a:rPr>
              <a:t>一屏一动作：工人登录后只看得到自己那几个菜单。而且先让一线受益 —— 计件走账、少填台账 —— 再谈约束。推行靠机制，不靠您天天盯。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883664"/>
            <a:ext cx="5390388" cy="210312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1636" y="1883664"/>
            <a:ext cx="68580" cy="2103120"/>
          </a:xfrm>
          <a:prstGeom prst="rect">
            <a:avLst/>
          </a:prstGeom>
          <a:solidFill>
            <a:srgbClr val="D8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79" y="2029968"/>
            <a:ext cx="4914900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D89A28"/>
                </a:solidFill>
                <a:latin typeface="Arial"/>
                <a:ea typeface="微软雅黑"/>
              </a:rPr>
              <a:t>「我们数据这么乱」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9379" y="2414016"/>
            <a:ext cx="4914900" cy="1444751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30" b="0">
                <a:solidFill>
                  <a:srgbClr val="33425C"/>
                </a:solidFill>
                <a:latin typeface="Arial"/>
                <a:ea typeface="微软雅黑"/>
              </a:rPr>
              <a:t>大概率能用，但边界先说清：主数据我们给模板与校验；历史数据导不出明细，就只迁汇总余额，追溯范围双方书面确认。不夸大。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78224"/>
            <a:ext cx="5390388" cy="210312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078224"/>
            <a:ext cx="68580" cy="2103120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224528"/>
            <a:ext cx="4914900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DE7A33"/>
                </a:solidFill>
                <a:latin typeface="Arial"/>
                <a:ea typeface="微软雅黑"/>
              </a:rPr>
              <a:t>「到底要花多少钱」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608576"/>
            <a:ext cx="4914900" cy="1444751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30" b="0">
                <a:solidFill>
                  <a:srgbClr val="33425C"/>
                </a:solidFill>
                <a:latin typeface="Arial"/>
                <a:ea typeface="微软雅黑"/>
              </a:rPr>
              <a:t>软件、硬件、实施、培训、年维护一次列全；硬件（平板/大屏/PDA/扫码枪/网关）单独列，您可以自采。分期绑里程碑，钱跟着成果走。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1636" y="4078224"/>
            <a:ext cx="5390388" cy="210312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78224"/>
            <a:ext cx="68580" cy="21031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9379" y="4224528"/>
            <a:ext cx="4914900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6E56CF"/>
                </a:solidFill>
                <a:latin typeface="Arial"/>
                <a:ea typeface="微软雅黑"/>
              </a:rPr>
              <a:t>「以后会不会被绑定」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9379" y="4608576"/>
            <a:ext cx="4914900" cy="1444751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30" b="0">
                <a:solidFill>
                  <a:srgbClr val="33425C"/>
                </a:solidFill>
                <a:latin typeface="Arial"/>
                <a:ea typeface="微软雅黑"/>
              </a:rPr>
              <a:t>数据永远归您，接口开放、导出不设限；核心实施人员不中途换人写进合同；年维护费与响应时效明码标价。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六 · 人的问题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谁会反对，为什么，怎么安排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落地最大的阻力从来不是技术，是人的位置变了。这一页建议您先看。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83664"/>
          <a:ext cx="110550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019"/>
                <a:gridCol w="3979834"/>
                <a:gridCol w="4864242"/>
              </a:tblGrid>
              <a:tr h="7680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谁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他真正担心什么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建议怎么安排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生产部长 / 车间主任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数据透明后，信息差带来的余地没了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让他早期参与口径设计并在蓝图上签字，由他向下宣布规则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老仓管 / 老师傅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经验被写成标准，议价能力下降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把老经验当口径评审用，标准里署他的名；让他教系统，而不是被系统教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财务 / 会计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工作量增加，怕账跟原来对不上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先上只读报表，对账口径由财务定；不让他变成录单员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外聘 IT / 顾问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怕显得没用，会提一堆技术问题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给他明确角色（网络、设备、接口），别让他评审业务口径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486400"/>
            <a:ext cx="11055096" cy="749808"/>
          </a:xfrm>
          <a:prstGeom prst="roundRect">
            <a:avLst>
              <a:gd name="adj" fmla="val 7317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5577840"/>
            <a:ext cx="10506456" cy="566927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rial"/>
                <a:ea typeface="微软雅黑"/>
              </a:rPr>
              <a:t>一个提醒：如果反对的是业务负责人，而您不打算处理，我们建议这个项目先别做 —— 这是经验，不是推托。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七 · 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这套方案明确不做什么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主动把边界说清，比事后解释便宜一百倍。以下五项，本期不做。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676656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233172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不做财务总账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79" y="1984248"/>
            <a:ext cx="8284464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记账、报税、报表仍在现有总账系统里；我们只把车间数据按时、准点送过去。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633472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633472"/>
            <a:ext cx="68580" cy="676656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734056"/>
            <a:ext cx="233172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不做设备底层控制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79" y="2734056"/>
            <a:ext cx="8284464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设备怎么跑还是设备的事；我们只做数据采集与接口对接，不动 PLC 逻辑。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383279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83279"/>
            <a:ext cx="68580" cy="676656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483863"/>
            <a:ext cx="233172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不做全自动排产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79" y="3483863"/>
            <a:ext cx="8284464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先做插单的响应优先级（P0/P1/P2）与可视排程；自动排产是下一期的题目。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33087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133087"/>
            <a:ext cx="68580" cy="676656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233672"/>
            <a:ext cx="233172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不做客户 CRM 全域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79" y="4233672"/>
            <a:ext cx="8284464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只做与订单、发货、质量直接相关的那部分客户信息，不做销售过程管理。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82896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882896"/>
            <a:ext cx="68580" cy="676656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983480"/>
            <a:ext cx="233172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不做报表工厂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79" y="4983480"/>
            <a:ext cx="8284464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先给三张老板报表：在制、库存与呆滞、异常与待办。其余报表按需再做。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779008"/>
            <a:ext cx="11055096" cy="42062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1">
                <a:solidFill>
                  <a:srgbClr val="D14B45"/>
                </a:solidFill>
                <a:latin typeface="Arial"/>
                <a:ea typeface="微软雅黑"/>
              </a:rPr>
              <a:t>这不是能力不足，是刻意的范围控制 —— 范围越清楚，承诺才越靠得住。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八 · 对价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需要您出的三样东西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这套方案不是把风险全推给您。但有三样，只有您能出。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3502152" cy="210312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3502152" cy="5029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66543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550" b="1">
                <a:solidFill>
                  <a:srgbClr val="0F1B2D"/>
                </a:solidFill>
                <a:latin typeface="Arial"/>
                <a:ea typeface="微软雅黑"/>
              </a:rPr>
              <a:t>一个能拍板的人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78608"/>
            <a:ext cx="3063240" cy="124358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项目归口到人，例会不缺席。不是挂名，是能当场定口径、定优先级的人。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83664"/>
            <a:ext cx="3502152" cy="210312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83664"/>
            <a:ext cx="3502152" cy="502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066543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550" b="1">
                <a:solidFill>
                  <a:srgbClr val="0F1B2D"/>
                </a:solidFill>
                <a:latin typeface="Arial"/>
                <a:ea typeface="微软雅黑"/>
              </a:rPr>
              <a:t>关键用户的工时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578608"/>
            <a:ext cx="3063240" cy="124358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头两周关键用户投入不低于约定比例，写进项目章程。他们不是被培训对象，是规则的定义者。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1883664"/>
            <a:ext cx="3502152" cy="210312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1" y="1883664"/>
            <a:ext cx="3502152" cy="50292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066543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550" b="1">
                <a:solidFill>
                  <a:srgbClr val="0F1B2D"/>
                </a:solidFill>
                <a:latin typeface="Arial"/>
                <a:ea typeface="微软雅黑"/>
              </a:rPr>
              <a:t>一条变更纪律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578608"/>
            <a:ext cx="3063240" cy="124358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口径冻结后要改，走书面评估：影响工期与费用的，双方签字。这不是限制您，是保护交期。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33087"/>
            <a:ext cx="11055096" cy="2048256"/>
          </a:xfrm>
          <a:prstGeom prst="roundRect">
            <a:avLst>
              <a:gd name="adj" fmla="val 2678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133087"/>
            <a:ext cx="68580" cy="20482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238426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说到底：您要出的不是钱，是注意力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549322"/>
            <a:ext cx="10671048" cy="154423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参考区间：老板本人每月一次例会；关键用户头两周约一半工时；一个能拍板的归口人。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这是项目成败最大的变量 —— 比软件本身重要得多。我们会在章程里把它定到人、定到周。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九 · 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钱怎么算：一次列全，不留第二只靴子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老板最怕的不是贵，是算不清总账。这里是投入结构，金额按规模与配置单独出具。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83664"/>
          <a:ext cx="1105509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8815"/>
                <a:gridCol w="4643140"/>
                <a:gridCol w="46431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投入项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包含什么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计费口径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软件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平台 + 五个终端 + 权限体系 + 接口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按模块与用户数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硬件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工位平板 / 车间大屏 / PDA / 扫码枪 / 网关 / 边缘节点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按点位清单，可自行采购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实施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蓝图、主数据、数据迁移、联调、试点陪跑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按人天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培训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分角色培训、操作手册、上线陪跑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按轮次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年维护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版本升级、问题响应、远程支持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软件金额的固定比例，明码标价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285232"/>
            <a:ext cx="3526536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285232"/>
            <a:ext cx="68580" cy="96926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377403"/>
            <a:ext cx="317906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分期绑里程碑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688299"/>
            <a:ext cx="3179064" cy="4893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80" b="0">
                <a:solidFill>
                  <a:srgbClr val="33425C"/>
                </a:solidFill>
                <a:latin typeface="Arial"/>
                <a:ea typeface="微软雅黑"/>
              </a:rPr>
              <a:t>蓝图签字 / 试点通过 / 全厂上线 / 推广完成，各付一段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5285232"/>
            <a:ext cx="3526536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1208" y="5285232"/>
            <a:ext cx="68580" cy="9692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0664" y="5377403"/>
            <a:ext cx="317906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软硬件分开报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0664" y="5688299"/>
            <a:ext cx="3179064" cy="4893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80" b="0">
                <a:solidFill>
                  <a:srgbClr val="33425C"/>
                </a:solidFill>
                <a:latin typeface="Arial"/>
                <a:ea typeface="微软雅黑"/>
              </a:rPr>
              <a:t>硬件单独列出，方便比价与自采，也避免「后面又加钱」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5285232"/>
            <a:ext cx="3526536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5488" y="5285232"/>
            <a:ext cx="68580" cy="969264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5377403"/>
            <a:ext cx="317906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后续模块有价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5688299"/>
            <a:ext cx="3179064" cy="4893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80" b="0">
                <a:solidFill>
                  <a:srgbClr val="33425C"/>
                </a:solidFill>
                <a:latin typeface="Arial"/>
                <a:ea typeface="微软雅黑"/>
              </a:rPr>
              <a:t>后移功能的预算区间也给您，不做无底洞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 · 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多久见效：五步推进，每一步都能停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不要求您一次押上全厂。我们把风险切碎，每一步都可以停、可以看、再决定。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75104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0 步 · 走车间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267712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半天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5" y="1984248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我们到现场，指出 3 个可量化的浪费点，当场说清算法。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7" y="1984248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不满意就不往下走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624328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624328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715768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1 步 · 症断书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008376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1 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5" y="2724912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一页纸：痛点 → 数字 → 路径 → 投入区间。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7" y="2724912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内部对不齐就先停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364992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364992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456432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2 步 · 只读驾驶舱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749040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约 2 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5" y="3465576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三张老板报表 + 手机能看；零操作，不增加任何人工作量。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7" y="3465576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数据接不上我们兜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105656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105656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197096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3 步 · 单工序试点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4489704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6~8 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7015" y="4206240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选一道能覆盖关键机制的工序，真机跑起来。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4206240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试点不达标不推广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846320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846320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937760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4 步 · 全厂推广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5230368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按范围分期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7015" y="4946904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按厂区与工序分批推，边推边培训。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05087" y="4946904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每批独立验收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605272"/>
            <a:ext cx="11055096" cy="621792"/>
          </a:xfrm>
          <a:prstGeom prst="roundRect">
            <a:avLst>
              <a:gd name="adj" fmla="val 8823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7" y="5696712"/>
            <a:ext cx="1050645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rial"/>
                <a:ea typeface="微软雅黑"/>
              </a:rPr>
              <a:t>第 2 步是从「听完方案」到「相信你能做」之间最短的一条路：只读、零操作、两周可见。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十一 · 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怎么验收：不看文档，看真机拦不拦得住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我们不用厚厚一叠文档证明做完了。验收方式就一条：当着您的面跑一遍。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3502152" cy="2157984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3502152" cy="50292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66543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等级不匹配，能发货吗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78608"/>
            <a:ext cx="3063240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拿一张低等级订单，去扫一卷高等级料。系统必须当场拦住，并给出拦截理由。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83664"/>
            <a:ext cx="3502152" cy="2157984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83664"/>
            <a:ext cx="3502152" cy="50292"/>
          </a:xfrm>
          <a:prstGeom prst="rect">
            <a:avLst/>
          </a:prstGeom>
          <a:solidFill>
            <a:srgbClr val="D8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066543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超产了，能过吗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578608"/>
            <a:ext cx="3063240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按超过订单数量的产量去提交。系统必须报警，并要求走审批。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1883664"/>
            <a:ext cx="3502152" cy="2157984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1" y="1883664"/>
            <a:ext cx="3502152" cy="50292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066543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没权限，能改数吗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578608"/>
            <a:ext cx="3063240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用工人的账号去改别人的记录。系统必须拒绝、留痕，且记录可查。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87952"/>
            <a:ext cx="11055096" cy="1956816"/>
          </a:xfrm>
          <a:prstGeom prst="roundRect">
            <a:avLst>
              <a:gd name="adj" fmla="val 2803"/>
            </a:avLst>
          </a:prstGeom>
          <a:solidFill>
            <a:srgbClr val="FAE6E5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187952"/>
            <a:ext cx="68580" cy="1956816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293290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再加一遍 12 步端到端真机流程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604186"/>
            <a:ext cx="10671048" cy="145279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接单 → 备料 → 投产 → 报工 → 检验 → 入库 → 发货，全部用真机、真数据跑通。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任何一处过不去，都算我们没做完 —— 把不确定性从您身上挪到我们身上。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十二 · 适配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什么样的厂适合做，什么样的不适合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我们把筛选标准也写出来。如果对不上，说明现在不是做这件事的时候。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5390388" cy="3255264"/>
          </a:xfrm>
          <a:prstGeom prst="roundRect">
            <a:avLst>
              <a:gd name="adj" fmla="val 1685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32552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89002"/>
            <a:ext cx="500634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适合做（五条）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99898"/>
            <a:ext cx="5006340" cy="275124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卷材是主要原料，且有多品种、多规格、多等级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有交期、追溯或合规要求（客户、体系、招标任一）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已在用进销存或总账系统，有物料编码（哪怕很乱）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年营收 5000 万以上，有专职生产管理角色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老板愿意参加双周演示，能按关键用户排出工时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883664"/>
            <a:ext cx="5390388" cy="3255264"/>
          </a:xfrm>
          <a:prstGeom prst="roundRect">
            <a:avLst>
              <a:gd name="adj" fmla="val 1685"/>
            </a:avLst>
          </a:prstGeom>
          <a:solidFill>
            <a:srgbClr val="FAE6E5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1636" y="1883664"/>
            <a:ext cx="68580" cy="3255264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79" y="1989002"/>
            <a:ext cx="500634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暂时不适合（五条）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9379" y="2299898"/>
            <a:ext cx="5006340" cy="275124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完全手工台账，且没人愿意清洗主数据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纯代工、没有定价权、也没有交期压力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业务负责人明确反对，而您不打算处理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只想买一套软件放着看，没有对应用人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正处在剧烈转型或生死线上，系统会被第一个砍掉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85232"/>
            <a:ext cx="11055096" cy="859536"/>
          </a:xfrm>
          <a:prstGeom prst="roundRect">
            <a:avLst>
              <a:gd name="adj" fmla="val 6382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376672"/>
            <a:ext cx="10506456" cy="6766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rial"/>
                <a:ea typeface="微软雅黑"/>
              </a:rPr>
              <a:t>说句实在话：不适合的项目我们会直接说。烂项目的代价，比没项目大。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十三 · 推行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如果您担心「推不动」，我们用机制帮您推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老板最深的顾虑往往不是钱，是「最后变成我一个人扛」。这一页专门讲这件事。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11055096" cy="868680"/>
          </a:xfrm>
          <a:prstGeom prst="roundRect">
            <a:avLst>
              <a:gd name="adj" fmla="val 505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86868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3017520" cy="6675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先让一线受益，再上约束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79" y="1984248"/>
            <a:ext cx="7598664" cy="6675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扫码就能看到今天挣多少、少填一本台账、少挨一次骂。工人自己要用，您不用去逼。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34640"/>
            <a:ext cx="11055096" cy="868680"/>
          </a:xfrm>
          <a:prstGeom prst="roundRect">
            <a:avLst>
              <a:gd name="adj" fmla="val 505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834640"/>
            <a:ext cx="68580" cy="86868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935224"/>
            <a:ext cx="3017520" cy="6675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驾驶舱第一天可用，零操作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79" y="2935224"/>
            <a:ext cx="7598664" cy="6675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只看不批、不用求人配合。您本人先得利，而且不用为它去开任何会。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85616"/>
            <a:ext cx="11055096" cy="868680"/>
          </a:xfrm>
          <a:prstGeom prst="roundRect">
            <a:avLst>
              <a:gd name="adj" fmla="val 505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785616"/>
            <a:ext cx="68580" cy="868680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886200"/>
            <a:ext cx="3017520" cy="6675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异常和断网，系统自己兜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3886200"/>
            <a:ext cx="7598664" cy="6675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断网缓存、冲突进裁决队列，工时计件一分不少。麻烦不甩给工人，就不用您去现场摆平。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36592"/>
            <a:ext cx="11055096" cy="868680"/>
          </a:xfrm>
          <a:prstGeom prst="roundRect">
            <a:avLst>
              <a:gd name="adj" fmla="val 505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736592"/>
            <a:ext cx="68580" cy="8686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837176"/>
            <a:ext cx="3017520" cy="6675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只跑三道工序的试点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79" y="4837176"/>
            <a:ext cx="7598664" cy="6675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推行半径缩小到一个班组，出问题影响可控；成了再扩，失败了损失有限。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669280"/>
            <a:ext cx="11055096" cy="585216"/>
          </a:xfrm>
          <a:prstGeom prst="roundRect">
            <a:avLst>
              <a:gd name="adj" fmla="val 9375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5760720"/>
            <a:ext cx="1050645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rial"/>
                <a:ea typeface="微软雅黑"/>
              </a:rPr>
              <a:t>一组对比：靠老板盯的系统，三个月后回到手工作业；靠一线自利的系统，三个月后没人愿意回到过去。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十四 ·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下一步：第一件事怎么开始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不需要现在就决定买不买。先把最容易看清的几件事做了。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11055096" cy="82296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47088"/>
            <a:ext cx="68580" cy="82296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47672"/>
            <a:ext cx="2011680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半天 · 走车间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47672"/>
            <a:ext cx="8604504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您带我们走一圈，我们在现场指出 3 个可量化的浪费点，当场说清单价与算法。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52344"/>
            <a:ext cx="11055096" cy="82296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752344"/>
            <a:ext cx="68580" cy="82296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852927"/>
            <a:ext cx="2011680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1 周 · 数据体检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852927"/>
            <a:ext cx="8604504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看现有系统能导出什么、主数据乱到什么程度、设备能不能取数 —— 这决定后面要几周。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57600"/>
            <a:ext cx="11055096" cy="82296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657600"/>
            <a:ext cx="68580" cy="82296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758184"/>
            <a:ext cx="2011680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1 周 · 一页症断书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758184"/>
            <a:ext cx="8604504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痛点、数字、路径、投入区间、分期建议。您可以拿它去跟股东和管理层对齐。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681728"/>
            <a:ext cx="5390388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681728"/>
            <a:ext cx="68580" cy="153619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787066"/>
            <a:ext cx="500634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我方准备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097962"/>
            <a:ext cx="5006340" cy="103217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同规模同工序的参观安排（如果您想看）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一份数据体检清单与症断书模板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一份正式报价单：含硬件清单与年维护费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4681728"/>
            <a:ext cx="5390388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1636" y="4681728"/>
            <a:ext cx="68580" cy="15361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9379" y="4787066"/>
            <a:ext cx="500634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贵方准备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9379" y="5097962"/>
            <a:ext cx="5006340" cy="103217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半天现场时间：老板 + 生产负责人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近 12 个月的库存与产量数据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现有系统的导出权限（只读即可）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91440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一页速查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  <a:ea typeface="微软雅黑"/>
              </a:rPr>
              <a:t>这一页您可以拿去给股东、家人、管理层看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7E90AA"/>
                </a:solidFill>
                <a:latin typeface="Arial"/>
                <a:ea typeface="微软雅黑"/>
              </a:rPr>
              <a:t>卷材制造执行系统 · 老板决策简报（脱敏版）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7E90AA"/>
                </a:solidFill>
                <a:latin typeface="Arial"/>
                <a:ea typeface="微软雅黑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8105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买的是什么？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18105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少赔钱、多接单、不用天天盯 —— 三件事，不是一堆功能。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048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4963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要花多少钱？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4963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软件 + 硬件 + 实施 + 培训 + 年维护，一次列全；分期绑里程碑，硬件可自采。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906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1821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多久见东西？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1821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约 2 周在手机上看真实数据；6~8 周单工序真机试点；之后按批推广。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764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867911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要谁参与？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3867911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一个能拍板的人 + 关键用户头两周约一半工时 + 一条变更纪律。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622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5537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最大风险？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45537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推行。对策：先让一线受益、驾驶舱零操作、只跑三道工序。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1480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2395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怎么算做成？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35808" y="52395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当场跑全流程 + 三处负面测试；拦不住就算我们没做完。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870448"/>
            <a:ext cx="11055096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1">
                <a:solidFill>
                  <a:srgbClr val="8FA3BF"/>
                </a:solidFill>
                <a:latin typeface="Arial"/>
                <a:ea typeface="微软雅黑"/>
              </a:rPr>
              <a:t>我们不承诺做不到的事，也不接不合适的项目 —— 这是这套方案最硬的底气。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