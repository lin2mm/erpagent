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开场：这是一套面向卷投料工厂的制造执行系统方案。五个终端、19 个功能章节，覆盖从接单到收款的全过程。全部内容已脱敏，不含任何企业标识。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这是全案最关键的一页。行业特征是卷投料，那么系统架构就不是可以自由选择的，而是被业务模式推导出来的。左边每一条特征，右边都有对应的强制要求。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四个目标对应后面四大功能块：卷料档案+仓储管住卷料；计划派工+报工打通流程；看板+大屏看清现场；成本+工资+凭证导出算清成本。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重点讲两件事：一是终端数量等于场景数量而不是角色数量；二是只读终端要单独做——驾驶舱强制只读、后端统一口径，避免老板和车间看到的不是同一个数。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三条值得抄的规则：角色决定登录落点；财务模块按角色细分页签；一人一号、操作日志不可删除、离职停用但保留历史审计。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这一页不用逐项念。重点是说明覆盖面：中小制造企业需要的不是一个功能强大的系统，而是一个覆盖完整的闭环。覆盖度比深度更重要。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三个自动是重点：自动去重、自动倒扣核销、自动生成应收。凡是能自动就不要人点的地方，也是后续智能化最容易落地的地方。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这五层是绝大多数制造业都适用的骨架。关键是两个细节：工单支持跨日续派（多次派工的完工量之和自动回写工单）；裁片计划通过「依赖计划」挂接辊涂计划，用依赖关系替代人工判断。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状态机设计得好不好，判断标准只有一句：车间里任何一个人，拿起任何一卷，扫一下就知道它现在能干什么、不能干什么。终态越少越好——终态多，数据就脏。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反查是最值钱的那个场景：某一批来料出了质量通告，把批次号输进去，几分钟锁定受影响的订单与客户，一键冻结、台账直接导出。这是拿政府/学校项目最硬的敲门砖。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注意第三条：产能 100% 是硬拦截。前两条是业务规则校验，第三条是物理不可能校验——第三种闸门最不会引起争议。这也是推荐的闸门上线顺序：先做物理不可能类，再做合规类，最后做管理规则类（需要老板背书）。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特采审批就是「出路」的设计：闸门不是死墙，而是必须留档才能通过的门。这一页可以直接拿去做客户的闸门确认表，让业务负责人逐条签字。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重点讲三件事：一是软约束加权，权重可配置；二是算法只出草稿，产线、日期与顺序仍由人决定；三是算法超时自动降级为贪心策略——保证总能给出可用方案，不阻塞生产。这三条正是后续 Agent 化的天然接口。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为什么容差用软警告？因为设备本身也会漂移，硬拦会瘫痪生产。另外报工粒度必须匹配工序的物理形态：单件工序单件扫，批量工序整托一枪，不逼工人逐件点——这是决定一线是否抵触的关键细节。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会议看板这一层经常被忽略但价值很高：它把例会从「各自报数」变成「看同一块屏」，并且标注数据更新时间与陈旧状态，避免例会口径争议。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如果只能讲一条，讲离线队列 + 幂等：工人报工提交后没反应，不能变成重复报工，也不能丢——离线队列会暂存，恢复后自动补传，幂等设计保证不会重复。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注意其中三条是负面测试：前置条件未确认能不能拦住、不满足条件能不能拦住发货、产能超限能不能硬拦。这三条比任何功能清单打勾都更能证明系统真的能用。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收尾：如果只能记住一句话，就是「一条主线、一道闸门」。主线决定数据能不能被追溯，闸门决定系统到底在不在管，自动联动决定它值不值钱。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91440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7E90AA"/>
                </a:solidFill>
                <a:latin typeface="Arial"/>
                <a:ea typeface="微软雅黑"/>
              </a:rPr>
              <a:t>卷材制造执行系统（MES）· 系统方案（脱敏版）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7E90AA"/>
                </a:solidFill>
                <a:latin typeface="Arial"/>
                <a:ea typeface="微软雅黑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8778240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50" b="1">
                <a:solidFill>
                  <a:srgbClr val="2F6BE4"/>
                </a:solidFill>
                <a:latin typeface="Arial"/>
                <a:ea typeface="微软雅黑"/>
              </a:rPr>
              <a:t>制造执行系统 · 系统方案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058400" cy="157276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Arial"/>
                <a:ea typeface="微软雅黑"/>
              </a:rPr>
              <a:t>卷材制造执行系统</a:t>
            </a:r>
          </a:p>
          <a:p>
            <a:pPr algn="l">
              <a:spcBef>
                <a:spcPts val="800"/>
              </a:spcBef>
            </a:pPr>
            <a:r>
              <a:rPr sz="1700" b="0">
                <a:solidFill>
                  <a:srgbClr val="A9BAD4"/>
                </a:solidFill>
                <a:latin typeface="Arial"/>
                <a:ea typeface="微软雅黑"/>
              </a:rPr>
              <a:t>管住卷料 · 打通流程 · 看清现场 · 算清成本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516884"/>
            <a:ext cx="5120640" cy="25400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3749039"/>
            <a:ext cx="10058400" cy="82296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00" b="0">
                <a:solidFill>
                  <a:srgbClr val="C6D2E4"/>
                </a:solidFill>
                <a:latin typeface="Arial"/>
                <a:ea typeface="微软雅黑"/>
              </a:rPr>
              <a:t>以「卷号」为主线的一体化生产管理平台：一卷服务多单、一单消耗多卷、余料可合卷可倒卷、等级只降不升。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4828032"/>
            <a:ext cx="1883664" cy="786384"/>
          </a:xfrm>
          <a:prstGeom prst="roundRect">
            <a:avLst>
              <a:gd name="adj" fmla="val 6976"/>
            </a:avLst>
          </a:prstGeom>
          <a:solidFill>
            <a:srgbClr val="1B2C46"/>
          </a:solidFill>
          <a:ln w="12700">
            <a:solidFill>
              <a:srgbClr val="2C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4919472"/>
            <a:ext cx="1883664" cy="38404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  <a:ea typeface="微软雅黑"/>
              </a:rPr>
              <a:t>5 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303520"/>
            <a:ext cx="1883664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950" b="0">
                <a:solidFill>
                  <a:srgbClr val="8FA3BF"/>
                </a:solidFill>
                <a:latin typeface="Arial"/>
                <a:ea typeface="微软雅黑"/>
              </a:rPr>
              <a:t>应用终端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70048" y="4828032"/>
            <a:ext cx="1883664" cy="786384"/>
          </a:xfrm>
          <a:prstGeom prst="roundRect">
            <a:avLst>
              <a:gd name="adj" fmla="val 6976"/>
            </a:avLst>
          </a:prstGeom>
          <a:solidFill>
            <a:srgbClr val="1B2C46"/>
          </a:solidFill>
          <a:ln w="12700">
            <a:solidFill>
              <a:srgbClr val="2C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70048" y="4919472"/>
            <a:ext cx="1883664" cy="38404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  <a:ea typeface="微软雅黑"/>
              </a:rPr>
              <a:t>19 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70048" y="5303520"/>
            <a:ext cx="1883664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950" b="0">
                <a:solidFill>
                  <a:srgbClr val="8FA3BF"/>
                </a:solidFill>
                <a:latin typeface="Arial"/>
                <a:ea typeface="微软雅黑"/>
              </a:rPr>
              <a:t>功能模块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73168" y="4828032"/>
            <a:ext cx="1883664" cy="786384"/>
          </a:xfrm>
          <a:prstGeom prst="roundRect">
            <a:avLst>
              <a:gd name="adj" fmla="val 6976"/>
            </a:avLst>
          </a:prstGeom>
          <a:solidFill>
            <a:srgbClr val="1B2C46"/>
          </a:solidFill>
          <a:ln w="12700">
            <a:solidFill>
              <a:srgbClr val="2C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73168" y="4919472"/>
            <a:ext cx="1883664" cy="38404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  <a:ea typeface="微软雅黑"/>
              </a:rPr>
              <a:t>≈60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73168" y="5303520"/>
            <a:ext cx="1883664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950" b="0">
                <a:solidFill>
                  <a:srgbClr val="8FA3BF"/>
                </a:solidFill>
                <a:latin typeface="Arial"/>
                <a:ea typeface="微软雅黑"/>
              </a:rPr>
              <a:t>功能页面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76288" y="4828032"/>
            <a:ext cx="1883664" cy="786384"/>
          </a:xfrm>
          <a:prstGeom prst="roundRect">
            <a:avLst>
              <a:gd name="adj" fmla="val 6976"/>
            </a:avLst>
          </a:prstGeom>
          <a:solidFill>
            <a:srgbClr val="1B2C46"/>
          </a:solidFill>
          <a:ln w="12700">
            <a:solidFill>
              <a:srgbClr val="2C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76288" y="4919472"/>
            <a:ext cx="1883664" cy="38404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  <a:ea typeface="微软雅黑"/>
              </a:rPr>
              <a:t>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76288" y="5303520"/>
            <a:ext cx="1883664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950" b="0">
                <a:solidFill>
                  <a:srgbClr val="8FA3BF"/>
                </a:solidFill>
                <a:latin typeface="Arial"/>
                <a:ea typeface="微软雅黑"/>
              </a:rPr>
              <a:t>状态机状态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5961888"/>
            <a:ext cx="10058400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50" b="0">
                <a:solidFill>
                  <a:srgbClr val="6E82A0"/>
                </a:solidFill>
                <a:latin typeface="Arial"/>
                <a:ea typeface="微软雅黑"/>
              </a:rPr>
              <a:t>本材料已脱敏：不含企业名称、品牌、人名、客户与供应商信息。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01 · 业务模式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卷投料模式：为什么「卷」决定了整个系统架构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原材料为不同宽度的金属卷，经辊涂线镀膜成为成品卷，再经裁片线裁成成品面板——卷料是核心资产，老板最关心它的资金占用与周转效率。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4706"/>
            <a:ext cx="11058113" cy="12700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卷材制造执行系统（MES）· 系统方案（脱敏版）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02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920240"/>
          <a:ext cx="11055095" cy="3364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6528"/>
                <a:gridCol w="7738567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12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行业特征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2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对系统的硬性要求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20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一卷可服务多个订单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2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必须有「卷 → 多订单」的分配与预配机制（裁切排产、拼板方案）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20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一个订单可消耗多卷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2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必须有「订单 → 多卷」的拆分机制（按卷拆工单，支持一单多卷）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20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卷料按米数消耗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2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必须有自动倒扣：报工即扣减卷料余长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20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余料还可以再用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2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必须有余料状态，以及合卷、倒卷等重组操作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20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卷宽决定能裁什么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2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必须有拼板 / 套料算法（多订单共享一个卷宽）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20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批次色差敏感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2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必须有「同单同卷」约束（排产的软约束之一）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20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等级只降不能升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2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必须有单向降级 + 发货等级匹配校验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66928" y="5340096"/>
            <a:ext cx="11055096" cy="932688"/>
          </a:xfrm>
          <a:prstGeom prst="roundRect">
            <a:avLst>
              <a:gd name="adj" fmla="val 5882"/>
            </a:avLst>
          </a:prstGeom>
          <a:solidFill>
            <a:srgbClr val="E4EDFC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5340096"/>
            <a:ext cx="68580" cy="932688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5445434"/>
            <a:ext cx="10671048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推论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756330"/>
            <a:ext cx="10671048" cy="42867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00" b="0">
                <a:solidFill>
                  <a:srgbClr val="33425C"/>
                </a:solidFill>
                <a:latin typeface="Arial"/>
                <a:ea typeface="微软雅黑"/>
              </a:rPr>
              <a:t>在卷投料模式下，库存不是一个数字，而是一张以「卷」为单位的实物台账 —— 因此卷料需要独立的生命周期状态机、独立的事件档案与独立的溯源链，而不能塞进普通物料表。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02 · 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这套系统要解决的四件事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不是「有没有系统」，而是四句具体的话——它们是全部功能取舍的依据。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4706"/>
            <a:ext cx="11058113" cy="12700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卷材制造执行系统（MES）· 系统方案（脱敏版）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975104"/>
            <a:ext cx="2571750" cy="1874519"/>
          </a:xfrm>
          <a:prstGeom prst="roundRect">
            <a:avLst>
              <a:gd name="adj" fmla="val 2926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975104"/>
            <a:ext cx="68580" cy="1874519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080442"/>
            <a:ext cx="2187702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管住卷料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391338"/>
            <a:ext cx="2187702" cy="137050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00" b="0">
                <a:solidFill>
                  <a:srgbClr val="33425C"/>
                </a:solidFill>
                <a:latin typeface="Arial"/>
                <a:ea typeface="微软雅黑"/>
              </a:rPr>
              <a:t>卷号贯穿全程，状态、位置、余长、等级可查；呆滞分 30/90/180 天三档预警。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94710" y="1975104"/>
            <a:ext cx="2571750" cy="1874519"/>
          </a:xfrm>
          <a:prstGeom prst="roundRect">
            <a:avLst>
              <a:gd name="adj" fmla="val 2926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94710" y="1975104"/>
            <a:ext cx="68580" cy="1874519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2454" y="2080442"/>
            <a:ext cx="2187702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打通流程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2454" y="2391338"/>
            <a:ext cx="2187702" cy="137050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00" b="0">
                <a:solidFill>
                  <a:srgbClr val="33425C"/>
                </a:solidFill>
                <a:latin typeface="Arial"/>
                <a:ea typeface="微软雅黑"/>
              </a:rPr>
              <a:t>计划、派工、报工、入库、发货实时联动；多端同步，信息不落在地上。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2492" y="1975104"/>
            <a:ext cx="2571750" cy="1874519"/>
          </a:xfrm>
          <a:prstGeom prst="roundRect">
            <a:avLst>
              <a:gd name="adj" fmla="val 2926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22492" y="1975104"/>
            <a:ext cx="68580" cy="1874519"/>
          </a:xfrm>
          <a:prstGeom prst="rect">
            <a:avLst/>
          </a:prstGeom>
          <a:solidFill>
            <a:srgbClr val="D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0236" y="2080442"/>
            <a:ext cx="2187702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看清现场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0236" y="2391338"/>
            <a:ext cx="2187702" cy="137050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00" b="0">
                <a:solidFill>
                  <a:srgbClr val="33425C"/>
                </a:solidFill>
                <a:latin typeface="Arial"/>
                <a:ea typeface="微软雅黑"/>
              </a:rPr>
              <a:t>四层看板（工位看板 / 车间大屏 / 会议看板 / 老板驾驶舱），真实数据实时呈现。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0274" y="1975104"/>
            <a:ext cx="2571750" cy="1874519"/>
          </a:xfrm>
          <a:prstGeom prst="roundRect">
            <a:avLst>
              <a:gd name="adj" fmla="val 2926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50274" y="1975104"/>
            <a:ext cx="68580" cy="1874519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88017" y="2080442"/>
            <a:ext cx="2187702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算清成本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8017" y="2391338"/>
            <a:ext cx="2187702" cy="137050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00" b="0">
                <a:solidFill>
                  <a:srgbClr val="33425C"/>
                </a:solidFill>
                <a:latin typeface="Arial"/>
                <a:ea typeface="微软雅黑"/>
              </a:rPr>
              <a:t>按卷、按订单、按片下钻；投入产出差异、成材率、工资一目了然。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096512"/>
            <a:ext cx="11055096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4096512"/>
            <a:ext cx="68580" cy="146304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4201850"/>
            <a:ext cx="10671048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判断标准（贯穿全案）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" y="4512746"/>
            <a:ext cx="10671048" cy="95902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40" b="0">
                <a:solidFill>
                  <a:srgbClr val="33425C"/>
                </a:solidFill>
                <a:latin typeface="Arial"/>
                <a:ea typeface="微软雅黑"/>
              </a:rPr>
              <a:t>系统好不好用，不看功能多少，看三件事：</a:t>
            </a:r>
          </a:p>
          <a:p>
            <a:pPr algn="l">
              <a:spcBef>
                <a:spcPts val="300"/>
              </a:spcBef>
            </a:pPr>
            <a:r>
              <a:rPr sz="1140" b="0">
                <a:solidFill>
                  <a:srgbClr val="33425C"/>
                </a:solidFill>
                <a:latin typeface="Arial"/>
                <a:ea typeface="微软雅黑"/>
              </a:rPr>
              <a:t>① 车间里任何一个人，拿起任何一卷，扫一下就知道它现在能干什么、不能干什么；</a:t>
            </a:r>
          </a:p>
          <a:p>
            <a:pPr algn="l">
              <a:spcBef>
                <a:spcPts val="300"/>
              </a:spcBef>
            </a:pPr>
            <a:r>
              <a:rPr sz="1140" b="0">
                <a:solidFill>
                  <a:srgbClr val="33425C"/>
                </a:solidFill>
                <a:latin typeface="Arial"/>
                <a:ea typeface="微软雅黑"/>
              </a:rPr>
              <a:t>② 现场敢不敢让系统「拦住」一次操作 —— 拦得住，才说明系统在管；</a:t>
            </a:r>
          </a:p>
          <a:p>
            <a:pPr algn="l">
              <a:spcBef>
                <a:spcPts val="300"/>
              </a:spcBef>
            </a:pPr>
            <a:r>
              <a:rPr sz="1140" b="0">
                <a:solidFill>
                  <a:srgbClr val="33425C"/>
                </a:solidFill>
                <a:latin typeface="Arial"/>
                <a:ea typeface="微软雅黑"/>
              </a:rPr>
              <a:t>③ 数据是当天录的，不是月底补的。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03 · 应用体系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五端应用体系：按「场景」切终端，不按「角色」切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同一份数据、同一套账号，不同的人在不同的设备上看到各自该看到的那一屏。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4706"/>
            <a:ext cx="11058113" cy="12700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卷材制造执行系统（MES）· 系统方案（脱敏版）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04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920240"/>
          <a:ext cx="11055095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8815"/>
                <a:gridCol w="2432121"/>
                <a:gridCol w="2211019"/>
                <a:gridCol w="464314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06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终端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6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部署设备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6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主要使用者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6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功能定位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60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后台管理端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6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内网 PC（≥1440×900）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6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生产、质量、仓储、财务、管理员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6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全功能管理中枢：计划、派工、质量、仓储、采购、发货、财务、系统配置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60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老板驾驶舱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6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PC / 平板（≥1280×800）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6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总经理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6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只读决策视图：经营、生产、质量、在途四大主题，口径由后端统一计算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60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工位平板端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6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车间安卓平板 10 寸+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6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一线工人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6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报工、改单、补贴、异常上报、作业指导书——一屏一任务，单次操作 10 秒内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60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车间大屏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6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55 寸+ 大屏（免登录）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6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全员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6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库位地图、今日动向、工单进度、告警滚动——零按钮，扫码即定位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60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移动端 PWA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6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PDA / 手机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6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调库员（搬运工）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6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扫码调拨、领料确认、离线暂存与同步——加到主屏幕即可当 App 用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60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统一登录端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6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任意浏览器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6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全部用户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6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账号密码登录、按角色快速登录、五端跳转与会话接力（URL 临时令牌，落地即清除）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66928" y="5486400"/>
            <a:ext cx="11055096" cy="731520"/>
          </a:xfrm>
          <a:prstGeom prst="roundRect">
            <a:avLst>
              <a:gd name="adj" fmla="val 7500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5486400"/>
            <a:ext cx="68580" cy="731520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5591738"/>
            <a:ext cx="10671048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设计原则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902634"/>
            <a:ext cx="10671048" cy="22750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20" b="0">
                <a:solidFill>
                  <a:srgbClr val="33425C"/>
                </a:solidFill>
                <a:latin typeface="Arial"/>
                <a:ea typeface="微软雅黑"/>
              </a:rPr>
              <a:t>终端数量 = 场景数量，不是角色数量 ｜ 面向一线的界面有物理约束（戴手套→大按钮+长按；站位远→可切看板视图）｜ 只读终端必须单独做。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04 · 角色与权限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九类角色：角色决定「能进哪些终端、落在哪一页」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角色不只是菜单开关——它还决定登录落点和写权限边界。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4706"/>
            <a:ext cx="11058113" cy="12700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卷材制造执行系统（MES）· 系统方案（脱敏版）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05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920240"/>
          <a:ext cx="11055095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8264"/>
                <a:gridCol w="4422038"/>
                <a:gridCol w="2321570"/>
                <a:gridCol w="2653223"/>
              </a:tblGrid>
              <a:tr h="425196"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角色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核心职责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终端 / 登录落点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写权限范围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</a:tr>
              <a:tr h="425196"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生产部长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排产核心：建计划、拆工单、派工、插单改单、呆滞决策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管理端（计划与派工）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生产计划、派工、卷料、仓储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车间主任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只读监控：产线进度、异常停机、人员效率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管理端（工作台）/ 大屏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只读为主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</a:tr>
              <a:tr h="425196"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一线工人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工位报工、补贴记录、异常上报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工位平板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报工 / 补贴 / 异常（仅本人工位）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调库员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现场扫码调拨、领料确认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移动端（扫码）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调拨、领料执行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</a:tr>
              <a:tr h="425196"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质检员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检验执行、不良判定、等级变迁、客诉处理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管理端（质量检测）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质量模块全部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仓管员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库位管理、出入库、找卷、调拨、盘点、呆滞处理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管理端（仓储）/ 大屏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卷料、仓储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</a:tr>
              <a:tr h="425196"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财务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应收应付、工资汇算、成本、凭证导出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管理端（财务）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财务模块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总经理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决策监控：资金占用、呆滞、进度、成本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驾驶舱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全系统只读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</a:tr>
              <a:tr h="425196"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系统管理员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用户权限、产线、机联设备、外部系统集成、审计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全部终端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全部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05 · 功能地图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约 60 个功能页面，分「核心业务」与「数据与系统」两区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左侧菜单分两区共 13 个菜单组——覆盖从接单到收款的全过程。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4706"/>
            <a:ext cx="11058113" cy="12700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卷材制造执行系统（MES）· 系统方案（脱敏版）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06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920240"/>
          <a:ext cx="5394959" cy="2523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2185"/>
                <a:gridCol w="3452774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98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核心业务 · 11 个菜单组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覆盖范围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80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工作台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今日待办 · 异常提醒 · 快捷入口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80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生产计划与派工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计划编排中心 · 派工执行 · 异常与变更 · 报工与补贴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80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质量检测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检验执行 · 质量监控 · 异常与审批 · 客诉服务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80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卷料档案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卷料列表 · 合卷 / 倒卷 · 溯源与事件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80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仓储管理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仓库看板 · 出入库 · 调拨 · 盘点 · 预警 · 呆滞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45352" y="1920240"/>
          <a:ext cx="5376671" cy="2523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5601"/>
                <a:gridCol w="3441070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98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数据与系统 · 2 个菜单组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覆盖范围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80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财务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应收应付 · 成本 · 工资 · 现金银行 · 凭证导出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80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客户与销售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客户列表 · 客户分级 · 订单管理 · 发货收款 · 生产进度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80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采购与发货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采购订单 · 供应商管理 · 采购报表 · 发货 · 退货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80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设备与能耗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设备台账 · 维修保养 · 备件 · 维护成本 · 能耗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80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看板中心 / 系统管理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看板导航 · SOP · 用户角色 · 操作日志 · 机联设备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66928" y="4535424"/>
            <a:ext cx="11055096" cy="1737360"/>
          </a:xfrm>
          <a:prstGeom prst="roundRect">
            <a:avLst>
              <a:gd name="adj" fmla="val 3157"/>
            </a:avLst>
          </a:prstGeom>
          <a:solidFill>
            <a:srgbClr val="E4EDFC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4535424"/>
            <a:ext cx="68580" cy="1737360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640762"/>
            <a:ext cx="10671048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菜单排序 = 生意顺序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4951658"/>
            <a:ext cx="10671048" cy="123334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20" b="0">
                <a:solidFill>
                  <a:srgbClr val="0F1B2D"/>
                </a:solidFill>
                <a:latin typeface="Arial"/>
                <a:ea typeface="微软雅黑"/>
              </a:rPr>
              <a:t>销售 → 订单 → 设计 / 技术 → 计划 → 采购 → 生产 → 质量 → 仓储 → 交付 → 财务</a:t>
            </a:r>
          </a:p>
          <a:p>
            <a:pPr algn="l">
              <a:spcBef>
                <a:spcPts val="400"/>
              </a:spcBef>
            </a:pPr>
            <a:r>
              <a:rPr sz="1060" b="0">
                <a:solidFill>
                  <a:srgbClr val="6B7A90"/>
                </a:solidFill>
                <a:latin typeface="Arial"/>
                <a:ea typeface="微软雅黑"/>
              </a:rPr>
              <a:t>让新员工看菜单顺序就能看懂公司的生意全貌。</a:t>
            </a:r>
          </a:p>
          <a:p>
            <a:pPr algn="l">
              <a:spcBef>
                <a:spcPts val="500"/>
              </a:spcBef>
            </a:pPr>
            <a:r>
              <a:rPr sz="1060" b="0">
                <a:solidFill>
                  <a:srgbClr val="33425C"/>
                </a:solidFill>
                <a:latin typeface="Arial"/>
                <a:ea typeface="微软雅黑"/>
              </a:rPr>
              <a:t>· 可见性四态：可操作 / 只读 / 不可见 / 限定说明（同一菜单可按角色细分页签）</a:t>
            </a:r>
          </a:p>
          <a:p>
            <a:pPr algn="l">
              <a:spcBef>
                <a:spcPts val="300"/>
              </a:spcBef>
            </a:pPr>
            <a:r>
              <a:rPr sz="1060" b="0">
                <a:solidFill>
                  <a:srgbClr val="33425C"/>
                </a:solidFill>
                <a:latin typeface="Arial"/>
                <a:ea typeface="微软雅黑"/>
              </a:rPr>
              <a:t>· 一人多岗：一个账号绑多个角色，菜单取并集</a:t>
            </a:r>
          </a:p>
          <a:p>
            <a:pPr algn="l">
              <a:spcBef>
                <a:spcPts val="300"/>
              </a:spcBef>
            </a:pPr>
            <a:r>
              <a:rPr sz="1060" b="0">
                <a:solidFill>
                  <a:srgbClr val="33425C"/>
                </a:solidFill>
                <a:latin typeface="Arial"/>
                <a:ea typeface="微软雅黑"/>
              </a:rPr>
              <a:t>· 角色决定登录落点：排产岗直达计划编排中心、管理层直达驾驶舱、工人直达工位平板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06 · 端到端流程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从一张订单到发货收款：12 个关键环节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每个环节都有明确的执行岗位与所用终端；三个「自动」是流程真正的价值所在。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4706"/>
            <a:ext cx="11058113" cy="12700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卷材制造执行系统（MES）· 系统方案（脱敏版）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07</a:t>
            </a:r>
          </a:p>
        </p:txBody>
      </p:sp>
      <p:sp>
        <p:nvSpPr>
          <p:cNvPr id="9" name="Chevron 8"/>
          <p:cNvSpPr/>
          <p:nvPr/>
        </p:nvSpPr>
        <p:spPr>
          <a:xfrm>
            <a:off x="566928" y="1956816"/>
            <a:ext cx="1956816" cy="603504"/>
          </a:xfrm>
          <a:prstGeom prst="chevron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  <a:ea typeface="微软雅黑"/>
              </a:rPr>
              <a:t>①订单接入</a:t>
            </a:r>
          </a:p>
        </p:txBody>
      </p:sp>
      <p:sp>
        <p:nvSpPr>
          <p:cNvPr id="10" name="Chevron 9"/>
          <p:cNvSpPr/>
          <p:nvPr/>
        </p:nvSpPr>
        <p:spPr>
          <a:xfrm>
            <a:off x="2393899" y="1956816"/>
            <a:ext cx="1956816" cy="603504"/>
          </a:xfrm>
          <a:prstGeom prst="chevron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  <a:ea typeface="微软雅黑"/>
              </a:rPr>
              <a:t>②生产计划</a:t>
            </a:r>
          </a:p>
        </p:txBody>
      </p:sp>
      <p:sp>
        <p:nvSpPr>
          <p:cNvPr id="11" name="Chevron 10"/>
          <p:cNvSpPr/>
          <p:nvPr/>
        </p:nvSpPr>
        <p:spPr>
          <a:xfrm>
            <a:off x="4220870" y="1956816"/>
            <a:ext cx="1956816" cy="603504"/>
          </a:xfrm>
          <a:prstGeom prst="chevron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  <a:ea typeface="微软雅黑"/>
              </a:rPr>
              <a:t>③拆分工单</a:t>
            </a:r>
          </a:p>
        </p:txBody>
      </p:sp>
      <p:sp>
        <p:nvSpPr>
          <p:cNvPr id="12" name="Chevron 11"/>
          <p:cNvSpPr/>
          <p:nvPr/>
        </p:nvSpPr>
        <p:spPr>
          <a:xfrm>
            <a:off x="6047841" y="1956816"/>
            <a:ext cx="1956816" cy="603504"/>
          </a:xfrm>
          <a:prstGeom prst="chevron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  <a:ea typeface="微软雅黑"/>
              </a:rPr>
              <a:t>④派工</a:t>
            </a:r>
          </a:p>
        </p:txBody>
      </p:sp>
      <p:sp>
        <p:nvSpPr>
          <p:cNvPr id="13" name="Chevron 12"/>
          <p:cNvSpPr/>
          <p:nvPr/>
        </p:nvSpPr>
        <p:spPr>
          <a:xfrm>
            <a:off x="7874812" y="1956816"/>
            <a:ext cx="1956816" cy="603504"/>
          </a:xfrm>
          <a:prstGeom prst="chevron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  <a:ea typeface="微软雅黑"/>
              </a:rPr>
              <a:t>⑤扫码领料</a:t>
            </a:r>
          </a:p>
        </p:txBody>
      </p:sp>
      <p:sp>
        <p:nvSpPr>
          <p:cNvPr id="14" name="Chevron 13"/>
          <p:cNvSpPr/>
          <p:nvPr/>
        </p:nvSpPr>
        <p:spPr>
          <a:xfrm>
            <a:off x="9701784" y="1956816"/>
            <a:ext cx="1956816" cy="603504"/>
          </a:xfrm>
          <a:prstGeom prst="chevron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  <a:ea typeface="微软雅黑"/>
              </a:rPr>
              <a:t>⑥辊涂报工</a:t>
            </a:r>
          </a:p>
        </p:txBody>
      </p:sp>
      <p:sp>
        <p:nvSpPr>
          <p:cNvPr id="15" name="Chevron 14"/>
          <p:cNvSpPr/>
          <p:nvPr/>
        </p:nvSpPr>
        <p:spPr>
          <a:xfrm>
            <a:off x="566928" y="2743200"/>
            <a:ext cx="1956816" cy="603504"/>
          </a:xfrm>
          <a:prstGeom prst="chevron">
            <a:avLst/>
          </a:prstGeom>
          <a:solidFill>
            <a:srgbClr val="233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  <a:ea typeface="微软雅黑"/>
              </a:rPr>
              <a:t>⑦视觉质检</a:t>
            </a:r>
          </a:p>
        </p:txBody>
      </p:sp>
      <p:sp>
        <p:nvSpPr>
          <p:cNvPr id="16" name="Chevron 15"/>
          <p:cNvSpPr/>
          <p:nvPr/>
        </p:nvSpPr>
        <p:spPr>
          <a:xfrm>
            <a:off x="2393899" y="2743200"/>
            <a:ext cx="1956816" cy="603504"/>
          </a:xfrm>
          <a:prstGeom prst="chevron">
            <a:avLst/>
          </a:prstGeom>
          <a:solidFill>
            <a:srgbClr val="233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  <a:ea typeface="微软雅黑"/>
              </a:rPr>
              <a:t>⑧成品卷入库</a:t>
            </a:r>
          </a:p>
        </p:txBody>
      </p:sp>
      <p:sp>
        <p:nvSpPr>
          <p:cNvPr id="17" name="Chevron 16"/>
          <p:cNvSpPr/>
          <p:nvPr/>
        </p:nvSpPr>
        <p:spPr>
          <a:xfrm>
            <a:off x="4220870" y="2743200"/>
            <a:ext cx="1956816" cy="603504"/>
          </a:xfrm>
          <a:prstGeom prst="chevron">
            <a:avLst/>
          </a:prstGeom>
          <a:solidFill>
            <a:srgbClr val="233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  <a:ea typeface="微软雅黑"/>
              </a:rPr>
              <a:t>⑨裁片排产拼板</a:t>
            </a:r>
          </a:p>
        </p:txBody>
      </p:sp>
      <p:sp>
        <p:nvSpPr>
          <p:cNvPr id="18" name="Chevron 17"/>
          <p:cNvSpPr/>
          <p:nvPr/>
        </p:nvSpPr>
        <p:spPr>
          <a:xfrm>
            <a:off x="6047841" y="2743200"/>
            <a:ext cx="1956816" cy="603504"/>
          </a:xfrm>
          <a:prstGeom prst="chevron">
            <a:avLst/>
          </a:prstGeom>
          <a:solidFill>
            <a:srgbClr val="233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  <a:ea typeface="微软雅黑"/>
              </a:rPr>
              <a:t>⑩裁片报工</a:t>
            </a:r>
          </a:p>
        </p:txBody>
      </p:sp>
      <p:sp>
        <p:nvSpPr>
          <p:cNvPr id="19" name="Chevron 18"/>
          <p:cNvSpPr/>
          <p:nvPr/>
        </p:nvSpPr>
        <p:spPr>
          <a:xfrm>
            <a:off x="7874812" y="2743200"/>
            <a:ext cx="1956816" cy="603504"/>
          </a:xfrm>
          <a:prstGeom prst="chevron">
            <a:avLst/>
          </a:prstGeom>
          <a:solidFill>
            <a:srgbClr val="233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  <a:ea typeface="微软雅黑"/>
              </a:rPr>
              <a:t>⑪入库核销</a:t>
            </a:r>
          </a:p>
        </p:txBody>
      </p:sp>
      <p:sp>
        <p:nvSpPr>
          <p:cNvPr id="20" name="Chevron 19"/>
          <p:cNvSpPr/>
          <p:nvPr/>
        </p:nvSpPr>
        <p:spPr>
          <a:xfrm>
            <a:off x="9701784" y="2743200"/>
            <a:ext cx="1956816" cy="603504"/>
          </a:xfrm>
          <a:prstGeom prst="chevron">
            <a:avLst/>
          </a:prstGeom>
          <a:solidFill>
            <a:srgbClr val="233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  <a:ea typeface="微软雅黑"/>
              </a:rPr>
              <a:t>⑫发货收款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602736"/>
            <a:ext cx="11055096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40" b="0">
                <a:solidFill>
                  <a:srgbClr val="6B7A90"/>
                </a:solidFill>
                <a:latin typeface="Arial"/>
                <a:ea typeface="微软雅黑"/>
              </a:rPr>
              <a:t>① 订单接入自动去重　② 裁片计划依赖辊涂计划完工后方可派工　③ 生产入库即自动倒扣核销订单　④ 发货确认自动生成应收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986784"/>
            <a:ext cx="2571750" cy="1417320"/>
          </a:xfrm>
          <a:prstGeom prst="roundRect">
            <a:avLst>
              <a:gd name="adj" fmla="val 3870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3986784"/>
            <a:ext cx="68580" cy="1417320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4092122"/>
            <a:ext cx="2187702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自动去重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4403018"/>
            <a:ext cx="2187702" cy="91330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80" b="0">
                <a:solidFill>
                  <a:srgbClr val="33425C"/>
                </a:solidFill>
                <a:latin typeface="Arial"/>
                <a:ea typeface="微软雅黑"/>
              </a:rPr>
              <a:t>外部系统重复推送的订单行自动去重，不产生重复计划。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94710" y="3986784"/>
            <a:ext cx="2571750" cy="1417320"/>
          </a:xfrm>
          <a:prstGeom prst="roundRect">
            <a:avLst>
              <a:gd name="adj" fmla="val 3870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94710" y="3986784"/>
            <a:ext cx="68580" cy="141732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32454" y="4092122"/>
            <a:ext cx="2187702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自动倒扣核销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32454" y="4403018"/>
            <a:ext cx="2187702" cy="91330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80" b="0">
                <a:solidFill>
                  <a:srgbClr val="33425C"/>
                </a:solidFill>
                <a:latin typeface="Arial"/>
                <a:ea typeface="微软雅黑"/>
              </a:rPr>
              <a:t>报工即按消耗量扣减卷料余长；生产入库即自动核销销售订单，进度实时更新。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22492" y="3986784"/>
            <a:ext cx="2571750" cy="1417320"/>
          </a:xfrm>
          <a:prstGeom prst="roundRect">
            <a:avLst>
              <a:gd name="adj" fmla="val 3870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22492" y="3986784"/>
            <a:ext cx="68580" cy="1417320"/>
          </a:xfrm>
          <a:prstGeom prst="rect">
            <a:avLst/>
          </a:prstGeom>
          <a:solidFill>
            <a:srgbClr val="D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60236" y="4092122"/>
            <a:ext cx="2187702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自动生成应收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0236" y="4403018"/>
            <a:ext cx="2187702" cy="91330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80" b="0">
                <a:solidFill>
                  <a:srgbClr val="33425C"/>
                </a:solidFill>
                <a:latin typeface="Arial"/>
                <a:ea typeface="微软雅黑"/>
              </a:rPr>
              <a:t>发货确认后联动库存、卷状态、外部系统回写与应收账款，一步到位。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5522976"/>
            <a:ext cx="11055096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6928" y="5522976"/>
            <a:ext cx="68580" cy="713232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" y="5628314"/>
            <a:ext cx="10671048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一句话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" y="5939210"/>
            <a:ext cx="10671048" cy="20921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20" b="0">
                <a:solidFill>
                  <a:srgbClr val="0F1B2D"/>
                </a:solidFill>
                <a:latin typeface="Arial"/>
                <a:ea typeface="微软雅黑"/>
              </a:rPr>
              <a:t>凡是「能自动就不要人点」的环节，都是后续 Agent 化最容易落地、也最容易证明价值的地方。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07 · 单据体系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五层单据：上层回答「要什么」，下层回答「怎么做」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每一层都有唯一编号规则；上下层可双向穿透；层与层之间有明确的拆分与依赖规则。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4706"/>
            <a:ext cx="11058113" cy="12700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卷材制造执行系统（MES）· 系统方案（脱敏版）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08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920240"/>
          <a:ext cx="11055093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8264"/>
                <a:gridCol w="1326611"/>
                <a:gridCol w="3316528"/>
                <a:gridCol w="3205977"/>
                <a:gridCol w="1547713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06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层级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6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单据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6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回答的问题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6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由谁创建 / 维护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6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编号示例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60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① 客户需求层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6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销售订单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6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客户要什么、要多少、何时交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6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外部系统同步 / 文员录入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6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SO-xxx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60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② 规划层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6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生产计划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6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做什么、做多少、用哪类卷料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6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生产部长（或自动排单生成草稿）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6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PP-xxx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60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③ 执行层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6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工单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6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具体怎么做（辊涂 / 裁片）、用哪些卷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6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生产部长按计划拆分（按卷拆分）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6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WO-日期-序号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60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④ 派工层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6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派工单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6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派给谁、哪条线、什么顺序、哪天做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6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生产部长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6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D日期-序号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60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⑤ 记录层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6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报工记录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6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做了多少、消耗多少、何时做的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6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工人在平板报工 / 机联自动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6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工单号-序号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66928" y="4846320"/>
            <a:ext cx="5394960" cy="1325880"/>
          </a:xfrm>
          <a:prstGeom prst="roundRect">
            <a:avLst>
              <a:gd name="adj" fmla="val 4137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4846320"/>
            <a:ext cx="68580" cy="1325880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4951658"/>
            <a:ext cx="5010912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典型展开链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262554"/>
            <a:ext cx="5010912" cy="82186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80" b="0">
                <a:solidFill>
                  <a:srgbClr val="33425C"/>
                </a:solidFill>
                <a:latin typeface="Arial"/>
                <a:ea typeface="微软雅黑"/>
              </a:rPr>
              <a:t>客户订单 5000 片 → 辊涂计划（3 个原料卷）→ 辊涂工单 ×2（按日分派）→ 裁片计划（依赖辊涂完工）→ 裁片工单 ×2 → 报工若干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4846320"/>
            <a:ext cx="5376672" cy="1325880"/>
          </a:xfrm>
          <a:prstGeom prst="roundRect">
            <a:avLst>
              <a:gd name="adj" fmla="val 4137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45352" y="4846320"/>
            <a:ext cx="68580" cy="132588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83096" y="4951658"/>
            <a:ext cx="4992624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两个关键设计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3096" y="5262554"/>
            <a:ext cx="4992624" cy="82186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>
              <a:spcBef>
                <a:spcPts val="200"/>
              </a:spcBef>
            </a:pPr>
            <a:r>
              <a:rPr sz="1080" b="0">
                <a:solidFill>
                  <a:srgbClr val="33425C"/>
                </a:solidFill>
                <a:latin typeface="Arial"/>
                <a:ea typeface="微软雅黑"/>
              </a:rPr>
              <a:t>· 工单支持跨日续派：多次派工的完工量之和自动回写工单</a:t>
            </a:r>
          </a:p>
          <a:p>
            <a:pPr algn="l">
              <a:spcBef>
                <a:spcPts val="400"/>
              </a:spcBef>
            </a:pPr>
            <a:r>
              <a:rPr sz="1080" b="0">
                <a:solidFill>
                  <a:srgbClr val="33425C"/>
                </a:solidFill>
                <a:latin typeface="Arial"/>
                <a:ea typeface="微软雅黑"/>
              </a:rPr>
              <a:t>· 裁片计划通过「依赖计划」挂接辊涂计划：辊涂完工后裁片工单方可派工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08 · 状态机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卷料生命周期：带终态的单向状态机 + 事件档案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卷料状态随业务动作单向流转；每一次迁移都留一条事件记录，任意时点扫码即可还原经历。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4706"/>
            <a:ext cx="11058113" cy="12700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卷材制造执行系统（MES）· 系统方案（脱敏版）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956816"/>
            <a:ext cx="1225296" cy="512064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20320">
            <a:solidFill>
              <a:srgbClr val="6B7A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084831"/>
            <a:ext cx="1225296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1120" b="1">
                <a:solidFill>
                  <a:srgbClr val="6B7A90"/>
                </a:solidFill>
                <a:latin typeface="Arial"/>
                <a:ea typeface="微软雅黑"/>
              </a:rPr>
              <a:t>在途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810512" y="2130552"/>
            <a:ext cx="109728" cy="164592"/>
          </a:xfrm>
          <a:prstGeom prst="rightArrow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938528" y="1956816"/>
            <a:ext cx="1225296" cy="512064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20320">
            <a:solidFill>
              <a:srgbClr val="6B7A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38528" y="2084831"/>
            <a:ext cx="1225296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1120" b="1">
                <a:solidFill>
                  <a:srgbClr val="6B7A90"/>
                </a:solidFill>
                <a:latin typeface="Arial"/>
                <a:ea typeface="微软雅黑"/>
              </a:rPr>
              <a:t>待入库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182112" y="2130552"/>
            <a:ext cx="109728" cy="164592"/>
          </a:xfrm>
          <a:prstGeom prst="rightArrow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10128" y="1956816"/>
            <a:ext cx="1225296" cy="512064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20320">
            <a:solidFill>
              <a:srgbClr val="D89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0128" y="2084831"/>
            <a:ext cx="1225296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1120" b="1">
                <a:solidFill>
                  <a:srgbClr val="D89A28"/>
                </a:solidFill>
                <a:latin typeface="Arial"/>
                <a:ea typeface="微软雅黑"/>
              </a:rPr>
              <a:t>待检验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553712" y="2130552"/>
            <a:ext cx="109728" cy="164592"/>
          </a:xfrm>
          <a:prstGeom prst="rightArrow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681728" y="1956816"/>
            <a:ext cx="1225296" cy="512064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20320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1728" y="2084831"/>
            <a:ext cx="1225296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1120" b="1">
                <a:solidFill>
                  <a:srgbClr val="2E9E6B"/>
                </a:solidFill>
                <a:latin typeface="Arial"/>
                <a:ea typeface="微软雅黑"/>
              </a:rPr>
              <a:t>原料可用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925312" y="2130552"/>
            <a:ext cx="109728" cy="164592"/>
          </a:xfrm>
          <a:prstGeom prst="rightArrow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053328" y="1956816"/>
            <a:ext cx="1225296" cy="512064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20320">
            <a:solidFill>
              <a:srgbClr val="2F6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53328" y="2084831"/>
            <a:ext cx="1225296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1120" b="1">
                <a:solidFill>
                  <a:srgbClr val="2F6BE4"/>
                </a:solidFill>
                <a:latin typeface="Arial"/>
                <a:ea typeface="微软雅黑"/>
              </a:rPr>
              <a:t>辊涂中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296912" y="2130552"/>
            <a:ext cx="109728" cy="164592"/>
          </a:xfrm>
          <a:prstGeom prst="rightArrow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24927" y="1956816"/>
            <a:ext cx="1225296" cy="512064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20320">
            <a:solidFill>
              <a:srgbClr val="2F6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24927" y="2084831"/>
            <a:ext cx="1225296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1120" b="1">
                <a:solidFill>
                  <a:srgbClr val="2F6BE4"/>
                </a:solidFill>
                <a:latin typeface="Arial"/>
                <a:ea typeface="微软雅黑"/>
              </a:rPr>
              <a:t>成品待裁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668511" y="2130552"/>
            <a:ext cx="109728" cy="164592"/>
          </a:xfrm>
          <a:prstGeom prst="rightArrow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796528" y="1956816"/>
            <a:ext cx="1225296" cy="512064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20320">
            <a:solidFill>
              <a:srgbClr val="2F6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96528" y="2084831"/>
            <a:ext cx="1225296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1120" b="1">
                <a:solidFill>
                  <a:srgbClr val="2F6BE4"/>
                </a:solidFill>
                <a:latin typeface="Arial"/>
                <a:ea typeface="微软雅黑"/>
              </a:rPr>
              <a:t>裁片中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10040111" y="2130552"/>
            <a:ext cx="109728" cy="164592"/>
          </a:xfrm>
          <a:prstGeom prst="rightArrow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168128" y="1956816"/>
            <a:ext cx="1225296" cy="512064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20320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68128" y="2084831"/>
            <a:ext cx="1225296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1120" b="1">
                <a:solidFill>
                  <a:srgbClr val="2E9E6B"/>
                </a:solidFill>
                <a:latin typeface="Arial"/>
                <a:ea typeface="微软雅黑"/>
              </a:rPr>
              <a:t>裁片完成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2596896"/>
            <a:ext cx="11055096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19" b="0">
                <a:solidFill>
                  <a:srgbClr val="6B7A90"/>
                </a:solidFill>
                <a:latin typeface="Arial"/>
                <a:ea typeface="微软雅黑"/>
              </a:rPr>
              <a:t>分支：余料（可合卷 / 倒卷 / 继续派用）｜ 已合卷 / 已倒卷（归档，扫老卷号自动跳转新卷）｜ 不合格（报废 / 特采 / 让步放行）｜ 终态：已发货 / 已报废 / 已退货（退货可恢复）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2962656"/>
            <a:ext cx="5394960" cy="1481328"/>
          </a:xfrm>
          <a:prstGeom prst="roundRect">
            <a:avLst>
              <a:gd name="adj" fmla="val 3703"/>
            </a:avLst>
          </a:prstGeom>
          <a:solidFill>
            <a:srgbClr val="FBF0D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6928" y="2962656"/>
            <a:ext cx="68580" cy="1481328"/>
          </a:xfrm>
          <a:prstGeom prst="rect">
            <a:avLst/>
          </a:prstGeom>
          <a:solidFill>
            <a:srgbClr val="D89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2" y="3067994"/>
            <a:ext cx="5010912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呆滞三档预警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" y="3378890"/>
            <a:ext cx="5010912" cy="97731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20" b="1">
                <a:solidFill>
                  <a:srgbClr val="0F1B2D"/>
                </a:solidFill>
                <a:latin typeface="Arial"/>
                <a:ea typeface="微软雅黑"/>
              </a:rPr>
              <a:t>30 天（黄） / 90 天（橙） / 180 天（红）</a:t>
            </a:r>
          </a:p>
          <a:p>
            <a:pPr algn="l">
              <a:spcBef>
                <a:spcPts val="500"/>
              </a:spcBef>
            </a:pPr>
            <a:r>
              <a:rPr sz="1060" b="0">
                <a:solidFill>
                  <a:srgbClr val="33425C"/>
                </a:solidFill>
                <a:latin typeface="Arial"/>
                <a:ea typeface="微软雅黑"/>
              </a:rPr>
              <a:t>呆滞卷不得退回原料库混放（原库温湿度会加速膜面氧化），走呆滞品仓分区管理，处置路径为优先改裁消化或降级使用。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45352" y="2962656"/>
            <a:ext cx="5376672" cy="1481328"/>
          </a:xfrm>
          <a:prstGeom prst="roundRect">
            <a:avLst>
              <a:gd name="adj" fmla="val 3703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45352" y="2962656"/>
            <a:ext cx="68580" cy="1481328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83096" y="3067994"/>
            <a:ext cx="4992624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事件档案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83096" y="3378890"/>
            <a:ext cx="4992624" cy="97731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60" b="0">
                <a:solidFill>
                  <a:srgbClr val="33425C"/>
                </a:solidFill>
                <a:latin typeface="Arial"/>
                <a:ea typeface="微软雅黑"/>
              </a:rPr>
              <a:t>事件类型 16 类：收卷、检验、开卷、完工、缺陷、裁切、合卷、倒卷、分配、发货、报废、呆滞、降级、退货、改单、入库完善。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6928" y="4590288"/>
            <a:ext cx="11055096" cy="1280160"/>
          </a:xfrm>
          <a:prstGeom prst="roundRect">
            <a:avLst>
              <a:gd name="adj" fmla="val 4285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66928" y="4590288"/>
            <a:ext cx="68580" cy="128016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4672" y="4695626"/>
            <a:ext cx="10671048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两条必须配套的机制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4672" y="5006522"/>
            <a:ext cx="10671048" cy="77614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>
              <a:spcBef>
                <a:spcPts val="200"/>
              </a:spcBef>
            </a:pPr>
            <a:r>
              <a:rPr sz="1100" b="0">
                <a:solidFill>
                  <a:srgbClr val="33425C"/>
                </a:solidFill>
                <a:latin typeface="Arial"/>
                <a:ea typeface="微软雅黑"/>
              </a:rPr>
              <a:t>① 溯源闭包表：合卷 / 倒卷后老标签作废，但系统自动重定向 —— 扫老码会提示「该卷已合卷，已跳转新卷号」，不必担心现场旧标签残留。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33425C"/>
                </a:solidFill>
                <a:latin typeface="Arial"/>
                <a:ea typeface="微软雅黑"/>
              </a:rPr>
              <a:t>② 等级单向降级：A→B→C 允许，反向禁止；降级历史永久留痕，供发货校验与成本核算使用。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09 · 追溯能力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追溯要能两个方向都问：正查与反查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只有正查的追溯只能做演示，只有双向的追溯才是真能力。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4706"/>
            <a:ext cx="11058113" cy="12700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卷材制造执行系统（MES）· 系统方案（脱敏版）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920240"/>
            <a:ext cx="5394960" cy="1691640"/>
          </a:xfrm>
          <a:prstGeom prst="roundRect">
            <a:avLst>
              <a:gd name="adj" fmla="val 3243"/>
            </a:avLst>
          </a:prstGeom>
          <a:solidFill>
            <a:srgbClr val="E4EDFC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920240"/>
            <a:ext cx="68580" cy="1691640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025578"/>
            <a:ext cx="5010912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正查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336474"/>
            <a:ext cx="5010912" cy="118762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00" b="0">
                <a:solidFill>
                  <a:srgbClr val="0F1B2D"/>
                </a:solidFill>
                <a:latin typeface="Arial"/>
                <a:ea typeface="微软雅黑"/>
              </a:rPr>
              <a:t>扫任意一卷的码 → 3 秒内调出全生命周期档案：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0F1B2D"/>
                </a:solidFill>
                <a:latin typeface="Arial"/>
                <a:ea typeface="微软雅黑"/>
              </a:rPr>
              <a:t>材料批次 / 工艺参数 / 设备 / 责任人 / 图纸或工艺版本 / 检验记录 / 发货去向</a:t>
            </a:r>
          </a:p>
          <a:p>
            <a:pPr algn="l">
              <a:spcBef>
                <a:spcPts val="600"/>
              </a:spcBef>
            </a:pPr>
            <a:r>
              <a:rPr sz="1040" b="0">
                <a:solidFill>
                  <a:srgbClr val="6B7A90"/>
                </a:solidFill>
                <a:latin typeface="Arial"/>
                <a:ea typeface="微软雅黑"/>
              </a:rPr>
              <a:t>回答的问题：这一卷经历过什么？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1920240"/>
            <a:ext cx="5376672" cy="1691640"/>
          </a:xfrm>
          <a:prstGeom prst="roundRect">
            <a:avLst>
              <a:gd name="adj" fmla="val 3243"/>
            </a:avLst>
          </a:prstGeom>
          <a:solidFill>
            <a:srgbClr val="FBEBDD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45352" y="1920240"/>
            <a:ext cx="68580" cy="1691640"/>
          </a:xfrm>
          <a:prstGeom prst="rect">
            <a:avLst/>
          </a:prstGeom>
          <a:solidFill>
            <a:srgbClr val="D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3096" y="2025578"/>
            <a:ext cx="4992624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反查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2336474"/>
            <a:ext cx="4992624" cy="118762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00" b="0">
                <a:solidFill>
                  <a:srgbClr val="0F1B2D"/>
                </a:solidFill>
                <a:latin typeface="Arial"/>
                <a:ea typeface="微软雅黑"/>
              </a:rPr>
              <a:t>输入批次 / 供应商 / 设备 / 时间区间 → 定位受影响范围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0F1B2D"/>
                </a:solidFill>
                <a:latin typeface="Arial"/>
                <a:ea typeface="微软雅黑"/>
              </a:rPr>
              <a:t>受影响的对象、订单、项目与客户 → 一键冻结 → 台账直接导出</a:t>
            </a:r>
          </a:p>
          <a:p>
            <a:pPr algn="l">
              <a:spcBef>
                <a:spcPts val="600"/>
              </a:spcBef>
            </a:pPr>
            <a:r>
              <a:rPr sz="1040" b="0">
                <a:solidFill>
                  <a:srgbClr val="6B7A90"/>
                </a:solidFill>
                <a:latin typeface="Arial"/>
                <a:ea typeface="微软雅黑"/>
              </a:rPr>
              <a:t>回答的问题：这一批料流到哪里去了？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767328"/>
            <a:ext cx="11055096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50" b="1">
                <a:solidFill>
                  <a:srgbClr val="0F1B2D"/>
                </a:solidFill>
                <a:latin typeface="Arial"/>
                <a:ea typeface="微软雅黑"/>
              </a:rPr>
              <a:t>支撑追溯的三块地基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096512"/>
            <a:ext cx="2571750" cy="1874519"/>
          </a:xfrm>
          <a:prstGeom prst="roundRect">
            <a:avLst>
              <a:gd name="adj" fmla="val 2926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4096512"/>
            <a:ext cx="68580" cy="1874519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4201850"/>
            <a:ext cx="2187702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码上只存身份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4512746"/>
            <a:ext cx="2187702" cy="137050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60" b="0">
                <a:solidFill>
                  <a:srgbClr val="33425C"/>
                </a:solidFill>
                <a:latin typeface="Arial"/>
                <a:ea typeface="微软雅黑"/>
              </a:rPr>
              <a:t>信息全在系统里。扫一枪，该调什么调什么——码是「指针」，不是「数据容器」。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94710" y="4096512"/>
            <a:ext cx="2571750" cy="1874519"/>
          </a:xfrm>
          <a:prstGeom prst="roundRect">
            <a:avLst>
              <a:gd name="adj" fmla="val 2926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94710" y="4096512"/>
            <a:ext cx="68580" cy="1874519"/>
          </a:xfrm>
          <a:prstGeom prst="rect">
            <a:avLst/>
          </a:prstGeom>
          <a:solidFill>
            <a:srgbClr val="D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32454" y="4201850"/>
            <a:ext cx="2187702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转码接力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32454" y="4512746"/>
            <a:ext cx="2187702" cy="137050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60" b="0">
                <a:solidFill>
                  <a:srgbClr val="33425C"/>
                </a:solidFill>
                <a:latin typeface="Arial"/>
                <a:ea typeface="微软雅黑"/>
              </a:rPr>
              <a:t>物理损耗必然发生（高温、污染）：旧码换新码，谱系关系记录在案，追溯链不断；工人指认补码需校验工序进度一致后才发新码。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22492" y="4096512"/>
            <a:ext cx="2571750" cy="1874519"/>
          </a:xfrm>
          <a:prstGeom prst="roundRect">
            <a:avLst>
              <a:gd name="adj" fmla="val 2926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22492" y="4096512"/>
            <a:ext cx="68580" cy="1874519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60236" y="4201850"/>
            <a:ext cx="2187702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闭包表重定向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60236" y="4512746"/>
            <a:ext cx="2187702" cy="137050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60" b="0">
                <a:solidFill>
                  <a:srgbClr val="33425C"/>
                </a:solidFill>
                <a:latin typeface="Arial"/>
                <a:ea typeface="微软雅黑"/>
              </a:rPr>
              <a:t>对象分裂 / 合并后，扫老标识自动跳转新标识，现场旧标签残留不再是问题。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10 · 硬闸门（一）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派工三大防呆：让「排不下去」变成系统的事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闸门 = 不通过就绝对过不去的硬校验。它是「系统」和「电子表格」的分水岭。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4706"/>
            <a:ext cx="11058113" cy="12700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卷材制造执行系统（MES）· 系统方案（脱敏版）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920240"/>
            <a:ext cx="2571750" cy="1783080"/>
          </a:xfrm>
          <a:prstGeom prst="roundRect">
            <a:avLst>
              <a:gd name="adj" fmla="val 3076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920240"/>
            <a:ext cx="2571750" cy="50292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084831"/>
            <a:ext cx="2205990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① 在途校验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450592"/>
            <a:ext cx="2205990" cy="78638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20" b="0">
                <a:solidFill>
                  <a:srgbClr val="33425C"/>
                </a:solidFill>
                <a:latin typeface="Arial"/>
                <a:ea typeface="微软雅黑"/>
              </a:rPr>
              <a:t>派工日期不得晚于在途卷的预计到货日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255264"/>
            <a:ext cx="2205990" cy="36576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60" b="0">
                <a:solidFill>
                  <a:srgbClr val="6B7A90"/>
                </a:solidFill>
                <a:latin typeface="Arial"/>
                <a:ea typeface="微软雅黑"/>
              </a:rPr>
              <a:t>依赖采购单如实填写的预计到货日期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94710" y="1920240"/>
            <a:ext cx="2571750" cy="1783080"/>
          </a:xfrm>
          <a:prstGeom prst="roundRect">
            <a:avLst>
              <a:gd name="adj" fmla="val 3076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94710" y="1920240"/>
            <a:ext cx="2571750" cy="50292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77590" y="2084831"/>
            <a:ext cx="2205990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② 合同月份管控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77590" y="2450592"/>
            <a:ext cx="2205990" cy="78638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20" b="0">
                <a:solidFill>
                  <a:srgbClr val="33425C"/>
                </a:solidFill>
                <a:latin typeface="Arial"/>
                <a:ea typeface="微软雅黑"/>
              </a:rPr>
              <a:t>8 月订单不能派到 7 月执行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77590" y="3255264"/>
            <a:ext cx="2205990" cy="36576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60" b="0">
                <a:solidFill>
                  <a:srgbClr val="6B7A90"/>
                </a:solidFill>
                <a:latin typeface="Arial"/>
                <a:ea typeface="微软雅黑"/>
              </a:rPr>
              <a:t>按客户合同月份锁定可执行窗口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22492" y="1920240"/>
            <a:ext cx="2571750" cy="1783080"/>
          </a:xfrm>
          <a:prstGeom prst="roundRect">
            <a:avLst>
              <a:gd name="adj" fmla="val 3076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22492" y="1920240"/>
            <a:ext cx="2571750" cy="50292"/>
          </a:xfrm>
          <a:prstGeom prst="rect">
            <a:avLst/>
          </a:prstGeom>
          <a:solidFill>
            <a:srgbClr val="D14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5372" y="2084831"/>
            <a:ext cx="2205990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③ 产能硬拦截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5372" y="2450592"/>
            <a:ext cx="2205990" cy="78638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20" b="0">
                <a:solidFill>
                  <a:srgbClr val="33425C"/>
                </a:solidFill>
                <a:latin typeface="Arial"/>
                <a:ea typeface="微软雅黑"/>
              </a:rPr>
              <a:t>产线当日产能 80% 黄色预警、100% 红色并硬性拦截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5372" y="3255264"/>
            <a:ext cx="2205990" cy="36576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60" b="0">
                <a:solidFill>
                  <a:srgbClr val="6B7A90"/>
                </a:solidFill>
                <a:latin typeface="Arial"/>
                <a:ea typeface="微软雅黑"/>
              </a:rPr>
              <a:t>超限提交返回明确报错，改派其他日期或产线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3913632"/>
            <a:ext cx="11055096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50" b="1">
                <a:solidFill>
                  <a:srgbClr val="0F1B2D"/>
                </a:solidFill>
                <a:latin typeface="Arial"/>
                <a:ea typeface="微软雅黑"/>
              </a:rPr>
              <a:t>闸门的四种类型与上线顺序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566928" y="4261104"/>
          <a:ext cx="11055093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8693"/>
                <a:gridCol w="2294453"/>
                <a:gridCol w="4171734"/>
                <a:gridCol w="1042933"/>
                <a:gridCol w="1877280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104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类型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4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特征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4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举例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4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争议度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4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上线批次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40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物理不可能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客观做不到，不用解释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产能上限拦截、在途卷未到厂不可派工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最低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第 1 批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40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合规 / 认证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外部规则强制要求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客户等级与物料等级匹配、强制认证件校验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低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第 2 批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40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质量 / 工艺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做得到但会产生不良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前置条件未确认不许批量报工、换料匹配校验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中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第 3 批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40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管理规则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内控要求，会得罪人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信用额度校验、合同月份管控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最高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第 4 批（需老板背书）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11 · 硬闸门（二）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质量与发货的五道闸门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每道闸门都有精确规则、明确出路与留痕要求——拦住不是目的，让人知道怎么办才是。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4706"/>
            <a:ext cx="11058113" cy="12700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卷材制造执行系统（MES）· 系统方案（脱敏版）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12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920240"/>
          <a:ext cx="11055094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8815"/>
                <a:gridCol w="3979834"/>
                <a:gridCol w="3316528"/>
                <a:gridCol w="1989917"/>
              </a:tblGrid>
              <a:tr h="585216"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闸门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精确规则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不通过时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留痕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等级匹配发货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每个客户等级绑定可发物料等级范围（如最高级客户仅可发最高等级物料）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直接阻止发货；确需放行必须走特采审批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发货记录保留等级快照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防多产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裁片工单按订单数量封顶：订单 5150 片只允许取 5150 片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超取系统预警；多产部分按等级强制入库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多产入库单据可追溯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自动倒扣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报工后按消耗量自动扣减卷料余长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退库卷重新打印剩余米数标签；头尾 1~2 米属正常误差，超出自动预警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报工与倒扣记录对应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等级单向降级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只允许高→低单向降级，禁止反向升级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硬拦截，无出路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降级历史永久留痕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不合格品处置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辊涂不良只有两条出路：报废或改裁（改裁走虚拟订单取数）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不允许直接变更订单；无订单尺寸同样走虚拟订单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处置单闭环留痕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66928" y="5522976"/>
            <a:ext cx="11055096" cy="731520"/>
          </a:xfrm>
          <a:prstGeom prst="roundRect">
            <a:avLst>
              <a:gd name="adj" fmla="val 7500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5522976"/>
            <a:ext cx="68580" cy="731520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5628314"/>
            <a:ext cx="10671048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闸门设计规范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939210"/>
            <a:ext cx="10671048" cy="22750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00" b="0">
                <a:solidFill>
                  <a:srgbClr val="33425C"/>
                </a:solidFill>
                <a:latin typeface="Arial"/>
                <a:ea typeface="微软雅黑"/>
              </a:rPr>
              <a:t>① 拦截必须给出原因和出路（不是死墙）② 拦截要有视觉 / 听觉反馈③ 每道闸门都要问一句：有没有人会因此没法干活？如果有，先给出路再上闸门。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12 · 算法与智能化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机器算、人来定：算法只出候选方案，不替人决策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两个算法都有明确的硬约束、可调权重，以及「永远不会卡住生产」的降级路径。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4706"/>
            <a:ext cx="11058113" cy="12700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卷材制造执行系统（MES）· 系统方案（脱敏版）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883664"/>
            <a:ext cx="5394960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50" b="1">
                <a:solidFill>
                  <a:srgbClr val="2F6BE4"/>
                </a:solidFill>
                <a:latin typeface="Arial"/>
                <a:ea typeface="微软雅黑"/>
              </a:rPr>
              <a:t>自动排单 · 软约束加权求解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2212848"/>
          <a:ext cx="5394960" cy="2414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3236976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104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权重项（默认）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4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优化目标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40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呆滞优先（0.30）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优先消耗呆滞卷料，降低资金占压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40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交期保障（0.30）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订单按期完工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40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调整成本（0.15）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同工艺、同宽度连续排产，减少换卷换刀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40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成材率（0.15）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提升裁片成材率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40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同单同卷（0.10）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同一订单尽量用同一卷，避免色差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66928" y="4718304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E4EDFC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4718304"/>
            <a:ext cx="68580" cy="1188720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823642"/>
            <a:ext cx="5010912" cy="99559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80" b="0">
                <a:solidFill>
                  <a:srgbClr val="0F1B2D"/>
                </a:solidFill>
                <a:latin typeface="Arial"/>
                <a:ea typeface="微软雅黑"/>
              </a:rPr>
              <a:t>生成 2~3 个候选方案供人工决策，推荐方案有高亮标识 —— 「机器算、人来定」。</a:t>
            </a:r>
          </a:p>
          <a:p>
            <a:pPr algn="l">
              <a:spcBef>
                <a:spcPts val="500"/>
              </a:spcBef>
            </a:pPr>
            <a:r>
              <a:rPr sz="1080" b="0">
                <a:solidFill>
                  <a:srgbClr val="0F1B2D"/>
                </a:solidFill>
                <a:latin typeface="Arial"/>
                <a:ea typeface="微软雅黑"/>
              </a:rPr>
              <a:t>注意：自动排单只生成草稿、不做自动派工；产线、日期与顺序仍由生产部长决定。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5352" y="1883664"/>
            <a:ext cx="5376672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50" b="1">
                <a:solidFill>
                  <a:srgbClr val="DE7A33"/>
                </a:solidFill>
                <a:latin typeface="Arial"/>
                <a:ea typeface="微软雅黑"/>
              </a:rPr>
              <a:t>拼板 / 套料 · 8 项硬约束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5352" y="2212848"/>
            <a:ext cx="1243584" cy="402336"/>
          </a:xfrm>
          <a:prstGeom prst="roundRect">
            <a:avLst>
              <a:gd name="adj" fmla="val 10909"/>
            </a:avLst>
          </a:prstGeom>
          <a:solidFill>
            <a:srgbClr val="FB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45352" y="2304288"/>
            <a:ext cx="1243584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980" b="1">
                <a:solidFill>
                  <a:srgbClr val="DE7A33"/>
                </a:solidFill>
                <a:latin typeface="Arial"/>
                <a:ea typeface="微软雅黑"/>
              </a:rPr>
              <a:t>单边宽度固定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98664" y="2212848"/>
            <a:ext cx="1243584" cy="402336"/>
          </a:xfrm>
          <a:prstGeom prst="roundRect">
            <a:avLst>
              <a:gd name="adj" fmla="val 10909"/>
            </a:avLst>
          </a:prstGeom>
          <a:solidFill>
            <a:srgbClr val="FB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98664" y="2304288"/>
            <a:ext cx="1243584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980" b="1">
                <a:solidFill>
                  <a:srgbClr val="DE7A33"/>
                </a:solidFill>
                <a:latin typeface="Arial"/>
                <a:ea typeface="微软雅黑"/>
              </a:rPr>
              <a:t>缺陷区间规避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51976" y="2212848"/>
            <a:ext cx="1243584" cy="402336"/>
          </a:xfrm>
          <a:prstGeom prst="roundRect">
            <a:avLst>
              <a:gd name="adj" fmla="val 10909"/>
            </a:avLst>
          </a:prstGeom>
          <a:solidFill>
            <a:srgbClr val="FB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51976" y="2304288"/>
            <a:ext cx="1243584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980" b="1">
                <a:solidFill>
                  <a:srgbClr val="DE7A33"/>
                </a:solidFill>
                <a:latin typeface="Arial"/>
                <a:ea typeface="微软雅黑"/>
              </a:rPr>
              <a:t>呆滞优先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305288" y="2212848"/>
            <a:ext cx="1243584" cy="402336"/>
          </a:xfrm>
          <a:prstGeom prst="roundRect">
            <a:avLst>
              <a:gd name="adj" fmla="val 10909"/>
            </a:avLst>
          </a:prstGeom>
          <a:solidFill>
            <a:srgbClr val="FB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05288" y="2304288"/>
            <a:ext cx="1243584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980" b="1">
                <a:solidFill>
                  <a:srgbClr val="DE7A33"/>
                </a:solidFill>
                <a:latin typeface="Arial"/>
                <a:ea typeface="微软雅黑"/>
              </a:rPr>
              <a:t>订单优先级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45352" y="2724912"/>
            <a:ext cx="1243584" cy="402336"/>
          </a:xfrm>
          <a:prstGeom prst="roundRect">
            <a:avLst>
              <a:gd name="adj" fmla="val 10909"/>
            </a:avLst>
          </a:prstGeom>
          <a:solidFill>
            <a:srgbClr val="FB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5352" y="2816352"/>
            <a:ext cx="1243584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980" b="1">
                <a:solidFill>
                  <a:srgbClr val="DE7A33"/>
                </a:solidFill>
                <a:latin typeface="Arial"/>
                <a:ea typeface="微软雅黑"/>
              </a:rPr>
              <a:t>接缝数 ≤ 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98664" y="2724912"/>
            <a:ext cx="1243584" cy="402336"/>
          </a:xfrm>
          <a:prstGeom prst="roundRect">
            <a:avLst>
              <a:gd name="adj" fmla="val 10909"/>
            </a:avLst>
          </a:prstGeom>
          <a:solidFill>
            <a:srgbClr val="FB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98664" y="2816352"/>
            <a:ext cx="1243584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980" b="1">
                <a:solidFill>
                  <a:srgbClr val="DE7A33"/>
                </a:solidFill>
                <a:latin typeface="Arial"/>
                <a:ea typeface="微软雅黑"/>
              </a:rPr>
              <a:t>同单同卷避色差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51976" y="2724912"/>
            <a:ext cx="1243584" cy="402336"/>
          </a:xfrm>
          <a:prstGeom prst="roundRect">
            <a:avLst>
              <a:gd name="adj" fmla="val 10909"/>
            </a:avLst>
          </a:prstGeom>
          <a:solidFill>
            <a:srgbClr val="FB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51976" y="2816352"/>
            <a:ext cx="1243584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980" b="1">
                <a:solidFill>
                  <a:srgbClr val="DE7A33"/>
                </a:solidFill>
                <a:latin typeface="Arial"/>
                <a:ea typeface="微软雅黑"/>
              </a:rPr>
              <a:t>余料最小化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305288" y="2724912"/>
            <a:ext cx="1243584" cy="402336"/>
          </a:xfrm>
          <a:prstGeom prst="roundRect">
            <a:avLst>
              <a:gd name="adj" fmla="val 10909"/>
            </a:avLst>
          </a:prstGeom>
          <a:solidFill>
            <a:srgbClr val="FB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05288" y="2816352"/>
            <a:ext cx="1243584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980" b="1">
                <a:solidFill>
                  <a:srgbClr val="DE7A33"/>
                </a:solidFill>
                <a:latin typeface="Arial"/>
                <a:ea typeface="微软雅黑"/>
              </a:rPr>
              <a:t>成材率 &gt; 92%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45352" y="3310128"/>
            <a:ext cx="5376672" cy="877824"/>
          </a:xfrm>
          <a:prstGeom prst="roundRect">
            <a:avLst>
              <a:gd name="adj" fmla="val 6250"/>
            </a:avLst>
          </a:prstGeom>
          <a:solidFill>
            <a:srgbClr val="FBF0D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45352" y="3310128"/>
            <a:ext cx="68580" cy="877824"/>
          </a:xfrm>
          <a:prstGeom prst="rect">
            <a:avLst/>
          </a:prstGeom>
          <a:solidFill>
            <a:srgbClr val="D89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83096" y="3415466"/>
            <a:ext cx="4992624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1">
                <a:solidFill>
                  <a:srgbClr val="0F1B2D"/>
                </a:solidFill>
                <a:latin typeface="Arial"/>
                <a:ea typeface="微软雅黑"/>
              </a:rPr>
              <a:t>降级策略（最关键的一条）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83096" y="3726362"/>
            <a:ext cx="4992624" cy="37380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80" b="0">
                <a:solidFill>
                  <a:srgbClr val="33425C"/>
                </a:solidFill>
                <a:latin typeface="Arial"/>
                <a:ea typeface="微软雅黑"/>
              </a:rPr>
              <a:t>若方案计算超时或失败，算法自动降级为贪心策略（按优先级顺序排布、遇缺陷跳过），保证总能给出可用方案，不会阻塞生产。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45352" y="4315968"/>
            <a:ext cx="5376672" cy="1591056"/>
          </a:xfrm>
          <a:prstGeom prst="roundRect">
            <a:avLst>
              <a:gd name="adj" fmla="val 3448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45352" y="4315968"/>
            <a:ext cx="68580" cy="1591056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83096" y="4421306"/>
            <a:ext cx="4992624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1">
                <a:solidFill>
                  <a:srgbClr val="0F1B2D"/>
                </a:solidFill>
                <a:latin typeface="Arial"/>
                <a:ea typeface="微软雅黑"/>
              </a:rPr>
              <a:t>缺陷必须是「带位置的区间」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83096" y="4732202"/>
            <a:ext cx="4992624" cy="108703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>
              <a:spcBef>
                <a:spcPts val="200"/>
              </a:spcBef>
            </a:pPr>
            <a:r>
              <a:rPr sz="1060" b="0">
                <a:solidFill>
                  <a:srgbClr val="33425C"/>
                </a:solidFill>
                <a:latin typeface="Arial"/>
                <a:ea typeface="微软雅黑"/>
              </a:rPr>
              <a:t>视觉质检数据按位置区间标记到卷，形成缺陷记录（类型 / 严重度 / 位置与长度 / 设备与时间 / 处理状态）。</a:t>
            </a:r>
          </a:p>
          <a:p>
            <a:pPr algn="l">
              <a:spcBef>
                <a:spcPts val="500"/>
              </a:spcBef>
            </a:pPr>
            <a:r>
              <a:rPr sz="1060" b="0">
                <a:solidFill>
                  <a:srgbClr val="33425C"/>
                </a:solidFill>
                <a:latin typeface="Arial"/>
                <a:ea typeface="微软雅黑"/>
              </a:rPr>
              <a:t>裁片车间开卷前可查看缺陷分布，直接决定规避或改裁 —— 例：某区域跑偏 2 公分，改裁为更窄的规格。</a:t>
            </a:r>
          </a:p>
          <a:p>
            <a:pPr algn="l">
              <a:spcBef>
                <a:spcPts val="500"/>
              </a:spcBef>
            </a:pPr>
            <a:r>
              <a:rPr sz="1019" b="0">
                <a:solidFill>
                  <a:srgbClr val="6B7A90"/>
                </a:solidFill>
                <a:latin typeface="Arial"/>
                <a:ea typeface="微软雅黑"/>
              </a:rPr>
              <a:t>如果缺陷还只是「合格 / 不合格」的布尔值，先做数据改造，再谈算法。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13 · 数据采集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人机结合：设备给基准值，人保留修正权，但修正必须留原因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能自动就自动；人工修正走三态留痕；差异超容差走软警告而非硬拦截。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4706"/>
            <a:ext cx="11058113" cy="12700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卷材制造执行系统（MES）· 系统方案（脱敏版）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883664"/>
            <a:ext cx="5394960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50" b="1">
                <a:solidFill>
                  <a:srgbClr val="2F6BE4"/>
                </a:solidFill>
                <a:latin typeface="Arial"/>
                <a:ea typeface="微软雅黑"/>
              </a:rPr>
              <a:t>机联设备接入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2212848"/>
          <a:ext cx="5394959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2689"/>
                <a:gridCol w="399227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04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配置项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4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可选项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40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设备类型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编码器 / IO 模块 / PLC / 视觉检测设备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40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连接方式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OpcUa / ModbusTcp / Mqtt / HttpPush / DbPoll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40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计数类型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计米（辊涂）/ 计片（裁片）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40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实时监控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实时计数当前值与心跳时间，异常离线一目了然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40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报工容差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报工数量与机联计数允许的偏差百分比，可配置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45352" y="1883664"/>
            <a:ext cx="5376672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50" b="1">
                <a:solidFill>
                  <a:srgbClr val="0F1B2D"/>
                </a:solidFill>
                <a:latin typeface="Arial"/>
                <a:ea typeface="微软雅黑"/>
              </a:rPr>
              <a:t>报工数据来源三态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2249424"/>
            <a:ext cx="5376672" cy="566928"/>
          </a:xfrm>
          <a:prstGeom prst="roundRect">
            <a:avLst>
              <a:gd name="adj" fmla="val 7741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5352" y="2249424"/>
            <a:ext cx="64008" cy="56692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2304288"/>
            <a:ext cx="192024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40" b="1">
                <a:solidFill>
                  <a:srgbClr val="0F1B2D"/>
                </a:solidFill>
                <a:latin typeface="Arial"/>
                <a:ea typeface="微软雅黑"/>
              </a:rPr>
              <a:t>手工录入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2551176"/>
            <a:ext cx="1920240" cy="21945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40" b="0">
                <a:solidFill>
                  <a:srgbClr val="6B7A90"/>
                </a:solidFill>
                <a:latin typeface="Arial"/>
                <a:ea typeface="微软雅黑"/>
              </a:rPr>
              <a:t>Manual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9912" y="2404872"/>
            <a:ext cx="2999232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60" b="0">
                <a:solidFill>
                  <a:srgbClr val="6B7A90"/>
                </a:solidFill>
                <a:latin typeface="Arial"/>
                <a:ea typeface="微软雅黑"/>
              </a:rPr>
              <a:t>无设备时使用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5352" y="2907791"/>
            <a:ext cx="5376672" cy="566928"/>
          </a:xfrm>
          <a:prstGeom prst="roundRect">
            <a:avLst>
              <a:gd name="adj" fmla="val 7741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5352" y="2907791"/>
            <a:ext cx="64008" cy="566928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2" y="2962656"/>
            <a:ext cx="192024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40" b="1">
                <a:solidFill>
                  <a:srgbClr val="0F1B2D"/>
                </a:solidFill>
                <a:latin typeface="Arial"/>
                <a:ea typeface="微软雅黑"/>
              </a:rPr>
              <a:t>机联自动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3209544"/>
            <a:ext cx="1920240" cy="21945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40" b="0">
                <a:solidFill>
                  <a:srgbClr val="6B7A90"/>
                </a:solidFill>
                <a:latin typeface="Arial"/>
                <a:ea typeface="微软雅黑"/>
              </a:rPr>
              <a:t>Auto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9912" y="3063239"/>
            <a:ext cx="2999232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60" b="0">
                <a:solidFill>
                  <a:srgbClr val="2E9E6B"/>
                </a:solidFill>
                <a:latin typeface="Arial"/>
                <a:ea typeface="微软雅黑"/>
              </a:rPr>
              <a:t>以设备计数为准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5352" y="3566160"/>
            <a:ext cx="5376672" cy="566928"/>
          </a:xfrm>
          <a:prstGeom prst="roundRect">
            <a:avLst>
              <a:gd name="adj" fmla="val 7741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5352" y="3566160"/>
            <a:ext cx="64008" cy="566928"/>
          </a:xfrm>
          <a:prstGeom prst="rect">
            <a:avLst/>
          </a:prstGeom>
          <a:solidFill>
            <a:srgbClr val="D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8232" y="3621024"/>
            <a:ext cx="192024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40" b="1">
                <a:solidFill>
                  <a:srgbClr val="0F1B2D"/>
                </a:solidFill>
                <a:latin typeface="Arial"/>
                <a:ea typeface="微软雅黑"/>
              </a:rPr>
              <a:t>机联 + 人工修正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2" y="3867911"/>
            <a:ext cx="1920240" cy="21945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40" b="0">
                <a:solidFill>
                  <a:srgbClr val="6B7A90"/>
                </a:solidFill>
                <a:latin typeface="Arial"/>
                <a:ea typeface="微软雅黑"/>
              </a:rPr>
              <a:t>AutoModified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9912" y="3721608"/>
            <a:ext cx="2999232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60" b="0">
                <a:solidFill>
                  <a:srgbClr val="DE7A33"/>
                </a:solidFill>
                <a:latin typeface="Arial"/>
                <a:ea typeface="微软雅黑"/>
              </a:rPr>
              <a:t>必须填写修正原因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45352" y="4224528"/>
            <a:ext cx="5376672" cy="1682496"/>
          </a:xfrm>
          <a:prstGeom prst="roundRect">
            <a:avLst>
              <a:gd name="adj" fmla="val 3260"/>
            </a:avLst>
          </a:prstGeom>
          <a:solidFill>
            <a:srgbClr val="FBF0D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45352" y="4224528"/>
            <a:ext cx="68580" cy="1682496"/>
          </a:xfrm>
          <a:prstGeom prst="rect">
            <a:avLst/>
          </a:prstGeom>
          <a:solidFill>
            <a:srgbClr val="D89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83096" y="4329866"/>
            <a:ext cx="4992624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1">
                <a:solidFill>
                  <a:srgbClr val="0F1B2D"/>
                </a:solidFill>
                <a:latin typeface="Arial"/>
                <a:ea typeface="微软雅黑"/>
              </a:rPr>
              <a:t>容差校验：软警告，不是硬拦截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83096" y="4640762"/>
            <a:ext cx="4992624" cy="117847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>
              <a:spcBef>
                <a:spcPts val="200"/>
              </a:spcBef>
            </a:pPr>
            <a:r>
              <a:rPr sz="1060" b="0">
                <a:solidFill>
                  <a:srgbClr val="33425C"/>
                </a:solidFill>
                <a:latin typeface="Arial"/>
                <a:ea typeface="微软雅黑"/>
              </a:rPr>
              <a:t>偏差超过容差 → 弹出二次确认框，显示偏差百分比与报工合计 → 确认无误后再次长按提交。</a:t>
            </a:r>
          </a:p>
          <a:p>
            <a:pPr algn="l">
              <a:spcBef>
                <a:spcPts val="400"/>
              </a:spcBef>
            </a:pPr>
            <a:r>
              <a:rPr sz="1060" b="0">
                <a:solidFill>
                  <a:srgbClr val="33425C"/>
                </a:solidFill>
                <a:latin typeface="Arial"/>
                <a:ea typeface="微软雅黑"/>
              </a:rPr>
              <a:t>为什么不用硬拦？因为设备本身也会漂移，硬拦会瘫痪生产。</a:t>
            </a:r>
          </a:p>
          <a:p>
            <a:pPr algn="l">
              <a:spcBef>
                <a:spcPts val="600"/>
              </a:spcBef>
            </a:pPr>
            <a:r>
              <a:rPr sz="1060" b="0">
                <a:solidFill>
                  <a:srgbClr val="0F1B2D"/>
                </a:solidFill>
                <a:latin typeface="Arial"/>
                <a:ea typeface="微软雅黑"/>
              </a:rPr>
              <a:t>配套原则：报工粒度必须匹配工序的物理形态 —— 单件工序单件扫码，连续 / 批量工序整托一枪，不逼工人逐件点。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14 · 看板体系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四层看板：不同的人在同一份数据上看不同的颗粒度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口径由后端统一计算、前端零加工——避免「老板看到的和车间看到的不是一个数」。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4706"/>
            <a:ext cx="11058113" cy="12700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卷材制造执行系统（MES）· 系统方案（脱敏版）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920240"/>
            <a:ext cx="257175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920240"/>
            <a:ext cx="2571750" cy="50292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66543"/>
            <a:ext cx="2242566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工位看板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59152"/>
            <a:ext cx="2242566" cy="21945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60" b="1">
                <a:solidFill>
                  <a:srgbClr val="2F6BE4"/>
                </a:solidFill>
                <a:latin typeface="Arial"/>
                <a:ea typeface="微软雅黑"/>
              </a:rPr>
              <a:t>执行层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651760"/>
            <a:ext cx="2242566" cy="1417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40" b="0">
                <a:solidFill>
                  <a:srgbClr val="33425C"/>
                </a:solidFill>
                <a:latin typeface="Arial"/>
                <a:ea typeface="微软雅黑"/>
              </a:rPr>
              <a:t>产线完成 / 计划 / 达成率、预计完工时间、当班产量、停机分钟、今日任务卡片、今日异常。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94710" y="1920240"/>
            <a:ext cx="257175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94710" y="1920240"/>
            <a:ext cx="2571750" cy="50292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59302" y="2066543"/>
            <a:ext cx="2242566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车间大屏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9302" y="2359152"/>
            <a:ext cx="2242566" cy="21945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60" b="1">
                <a:solidFill>
                  <a:srgbClr val="2E9E6B"/>
                </a:solidFill>
                <a:latin typeface="Arial"/>
                <a:ea typeface="微软雅黑"/>
              </a:rPr>
              <a:t>现场层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59302" y="2651760"/>
            <a:ext cx="2242566" cy="1417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40" b="0">
                <a:solidFill>
                  <a:srgbClr val="33425C"/>
                </a:solidFill>
                <a:latin typeface="Arial"/>
                <a:ea typeface="微软雅黑"/>
              </a:rPr>
              <a:t>左侧 KPI 与告警滚动、中部库位地图（扫码后库位闪烁定位 3 秒）、右侧工单进度与今日动向、底部扫码条。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22492" y="1920240"/>
            <a:ext cx="257175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22492" y="1920240"/>
            <a:ext cx="2571750" cy="50292"/>
          </a:xfrm>
          <a:prstGeom prst="rect">
            <a:avLst/>
          </a:prstGeom>
          <a:solidFill>
            <a:srgbClr val="D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7084" y="2066543"/>
            <a:ext cx="2242566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会议看板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7084" y="2359152"/>
            <a:ext cx="2242566" cy="21945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60" b="1">
                <a:solidFill>
                  <a:srgbClr val="DE7A33"/>
                </a:solidFill>
                <a:latin typeface="Arial"/>
                <a:ea typeface="微软雅黑"/>
              </a:rPr>
              <a:t>例会层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7084" y="2651760"/>
            <a:ext cx="2242566" cy="1417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40" b="0">
                <a:solidFill>
                  <a:srgbClr val="33425C"/>
                </a:solidFill>
                <a:latin typeface="Arial"/>
                <a:ea typeface="微软雅黑"/>
              </a:rPr>
              <a:t>生产 / 质量 / 销售 / 仓库四类例会投屏；全部数据 30 秒自动刷新，右上角显示数据更新时间与陈旧标记。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0274" y="1920240"/>
            <a:ext cx="257175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0274" y="1920240"/>
            <a:ext cx="2571750" cy="50292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14865" y="2066543"/>
            <a:ext cx="2242566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老板驾驶舱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4865" y="2359152"/>
            <a:ext cx="2242566" cy="21945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60" b="1">
                <a:solidFill>
                  <a:srgbClr val="6E56CF"/>
                </a:solidFill>
                <a:latin typeface="Arial"/>
                <a:ea typeface="微软雅黑"/>
              </a:rPr>
              <a:t>决策层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14865" y="2651760"/>
            <a:ext cx="2242566" cy="1417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40" b="0">
                <a:solidFill>
                  <a:srgbClr val="33425C"/>
                </a:solidFill>
                <a:latin typeface="Arial"/>
                <a:ea typeface="微软雅黑"/>
              </a:rPr>
              <a:t>首屏三个大数字：今日待交付（含超期）、卷料资金占用（含呆滞占比）、呆滞库存（90 天以上）。点击任一数字下钻明细。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4389120"/>
            <a:ext cx="11055096" cy="1536192"/>
          </a:xfrm>
          <a:prstGeom prst="roundRect">
            <a:avLst>
              <a:gd name="adj" fmla="val 3571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6928" y="4389120"/>
            <a:ext cx="68580" cy="1536192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4494458"/>
            <a:ext cx="10671048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大屏的工程细节（无人值守长期运行）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" y="4805354"/>
            <a:ext cx="10671048" cy="103217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>
              <a:spcBef>
                <a:spcPts val="200"/>
              </a:spcBef>
            </a:pPr>
            <a:r>
              <a:rPr sz="1100" b="0">
                <a:solidFill>
                  <a:srgbClr val="33425C"/>
                </a:solidFill>
                <a:latin typeface="Arial"/>
                <a:ea typeface="微软雅黑"/>
              </a:rPr>
              <a:t>· Kiosk 自保护：60 秒无操作自动隐藏光标，禁用右键与开发者工具；页面心跳异常 5 秒内自动刷新恢复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33425C"/>
                </a:solidFill>
                <a:latin typeface="Arial"/>
                <a:ea typeface="微软雅黑"/>
              </a:rPr>
              <a:t>· 数据时点：看板显示「数据更新时间」，超期显示「陈旧」标记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33425C"/>
                </a:solidFill>
                <a:latin typeface="Arial"/>
                <a:ea typeface="微软雅黑"/>
              </a:rPr>
              <a:t>· 零按钮设计：免登录、全屏投放，扫码枪即扫即定位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33425C"/>
                </a:solidFill>
                <a:latin typeface="Arial"/>
                <a:ea typeface="微软雅黑"/>
              </a:rPr>
              <a:t>· 颜色语义全系统统一：绿正常、蓝在动、黄要防、橙要急、红必停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15 · 工程可靠性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看不见但决定可用性的六个机制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功能可以少做，这六件事不能不做——它们决定系统在真实现场能不能活下来。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4706"/>
            <a:ext cx="11058113" cy="12700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卷材制造执行系统（MES）· 系统方案（脱敏版）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920240"/>
            <a:ext cx="3502152" cy="2029968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920240"/>
            <a:ext cx="68580" cy="2029968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025578"/>
            <a:ext cx="3118104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离线可用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336474"/>
            <a:ext cx="3118104" cy="152595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80" b="0">
                <a:solidFill>
                  <a:srgbClr val="33425C"/>
                </a:solidFill>
                <a:latin typeface="Arial"/>
                <a:ea typeface="微软雅黑"/>
              </a:rPr>
              <a:t>工位端断网时提交进入离线队列，恢复后自动补传；幂等设计，不会重复报工。移动端离线队列存本地并支持批量同步。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920240"/>
            <a:ext cx="3502152" cy="2029968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920240"/>
            <a:ext cx="68580" cy="2029968"/>
          </a:xfrm>
          <a:prstGeom prst="rect">
            <a:avLst/>
          </a:prstGeom>
          <a:solidFill>
            <a:srgbClr val="D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1144" y="2025578"/>
            <a:ext cx="3118104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冲突裁决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144" y="2336474"/>
            <a:ext cx="3118104" cy="152595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80" b="0">
                <a:solidFill>
                  <a:srgbClr val="33425C"/>
                </a:solidFill>
                <a:latin typeface="Arial"/>
                <a:ea typeface="微软雅黑"/>
              </a:rPr>
              <a:t>同一卷被两人同时操作：按「先到先得」判定，冲突标记待人工确认，而不是静默丢弃。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1" y="1920240"/>
            <a:ext cx="3502152" cy="2029968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19871" y="1920240"/>
            <a:ext cx="68580" cy="2029968"/>
          </a:xfrm>
          <a:prstGeom prst="rect">
            <a:avLst/>
          </a:prstGeom>
          <a:solidFill>
            <a:srgbClr val="D14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57615" y="2025578"/>
            <a:ext cx="3118104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不可删审计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5" y="2336474"/>
            <a:ext cx="3118104" cy="152595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80" b="0">
                <a:solidFill>
                  <a:srgbClr val="33425C"/>
                </a:solidFill>
                <a:latin typeface="Arial"/>
                <a:ea typeface="微软雅黑"/>
              </a:rPr>
              <a:t>操作日志记录登录、插单、改单、派工、入库等关键操作（时间 / 操作人 / 模块 / 动作 / 目标 / IP），不可删除。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133087"/>
            <a:ext cx="3502152" cy="2029968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4133087"/>
            <a:ext cx="68580" cy="2029968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238426"/>
            <a:ext cx="3118104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字段级变更留痕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4549322"/>
            <a:ext cx="3118104" cy="152595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80" b="0">
                <a:solidFill>
                  <a:srgbClr val="33425C"/>
                </a:solidFill>
                <a:latin typeface="Arial"/>
                <a:ea typeface="微软雅黑"/>
              </a:rPr>
              <a:t>变更日志记录「谁、何时、把什么字段从什么值改成了什么值」，满足审计要求。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0" y="4133087"/>
            <a:ext cx="3502152" cy="2029968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3400" y="4133087"/>
            <a:ext cx="68580" cy="2029968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81144" y="4238426"/>
            <a:ext cx="3118104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数据冻结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81144" y="4549322"/>
            <a:ext cx="3118104" cy="152595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80" b="0">
                <a:solidFill>
                  <a:srgbClr val="33425C"/>
                </a:solidFill>
                <a:latin typeface="Arial"/>
                <a:ea typeface="微软雅黑"/>
              </a:rPr>
              <a:t>已报工、已审核、已执行的数据不可直接修改，一律通过改单 / 红冲 / 管理员流程处理，保留完整痕迹。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19871" y="4133087"/>
            <a:ext cx="3502152" cy="2029968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19871" y="4133087"/>
            <a:ext cx="68580" cy="2029968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57615" y="4238426"/>
            <a:ext cx="3118104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集成的可靠性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57615" y="4549322"/>
            <a:ext cx="3118104" cy="152595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80" b="0">
                <a:solidFill>
                  <a:srgbClr val="33425C"/>
                </a:solidFill>
                <a:latin typeface="Arial"/>
                <a:ea typeface="微软雅黑"/>
              </a:rPr>
              <a:t>事件驱动出站队列（15 秒轮询）+ 失败指数退避（最多 5 次）+ 死信可人工重推 + 每日凌晨自动对账。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16 · 实施与验收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验收不认文档，认真机——而且要测「拦不拦得住」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开发收尾时当场在真机、真数据上跑完这几条，全过即交卷。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4706"/>
            <a:ext cx="11058113" cy="12700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卷材制造执行系统（MES）· 系统方案（脱敏版）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920240"/>
            <a:ext cx="3502152" cy="1042415"/>
          </a:xfrm>
          <a:prstGeom prst="roundRect">
            <a:avLst>
              <a:gd name="adj" fmla="val 5263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920240"/>
            <a:ext cx="68580" cy="1042415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012411"/>
            <a:ext cx="3154679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40" b="1">
                <a:solidFill>
                  <a:srgbClr val="0F1B2D"/>
                </a:solidFill>
                <a:latin typeface="Arial"/>
                <a:ea typeface="微软雅黑"/>
              </a:rPr>
              <a:t>全流程走通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323307"/>
            <a:ext cx="3154679" cy="56253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40" b="0">
                <a:solidFill>
                  <a:srgbClr val="33425C"/>
                </a:solidFill>
                <a:latin typeface="Arial"/>
                <a:ea typeface="微软雅黑"/>
              </a:rPr>
              <a:t>新建一张订单，从接入、计划、拆单、派工、报料、报工、检验、入库到出库 / 发货，全流程在系统里走完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920240"/>
            <a:ext cx="3502152" cy="1042415"/>
          </a:xfrm>
          <a:prstGeom prst="roundRect">
            <a:avLst>
              <a:gd name="adj" fmla="val 5263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920240"/>
            <a:ext cx="68580" cy="1042415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2855" y="2012411"/>
            <a:ext cx="3154679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40" b="1">
                <a:solidFill>
                  <a:srgbClr val="0F1B2D"/>
                </a:solidFill>
                <a:latin typeface="Arial"/>
                <a:ea typeface="微软雅黑"/>
              </a:rPr>
              <a:t>追溯验证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2855" y="2323307"/>
            <a:ext cx="3154679" cy="56253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40" b="0">
                <a:solidFill>
                  <a:srgbClr val="33425C"/>
                </a:solidFill>
                <a:latin typeface="Arial"/>
                <a:ea typeface="微软雅黑"/>
              </a:rPr>
              <a:t>随便扫一卷的码，3 秒内调出全生命周期档案（含材料批次、工艺参数、责任人、检验记录）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1" y="1920240"/>
            <a:ext cx="3502152" cy="1042415"/>
          </a:xfrm>
          <a:prstGeom prst="roundRect">
            <a:avLst>
              <a:gd name="adj" fmla="val 5263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19871" y="1920240"/>
            <a:ext cx="68580" cy="1042415"/>
          </a:xfrm>
          <a:prstGeom prst="rect">
            <a:avLst/>
          </a:prstGeom>
          <a:solidFill>
            <a:srgbClr val="D14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9327" y="2012411"/>
            <a:ext cx="3154679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40" b="1">
                <a:solidFill>
                  <a:srgbClr val="0F1B2D"/>
                </a:solidFill>
                <a:latin typeface="Arial"/>
                <a:ea typeface="微软雅黑"/>
              </a:rPr>
              <a:t>负面测试 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7" y="2323307"/>
            <a:ext cx="3154679" cy="56253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40" b="0">
                <a:solidFill>
                  <a:srgbClr val="33425C"/>
                </a:solidFill>
                <a:latin typeface="Arial"/>
                <a:ea typeface="微软雅黑"/>
              </a:rPr>
              <a:t>让前置条件未确认的工序试批量报工 → 看系统拦不拦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090672"/>
            <a:ext cx="3502152" cy="1042415"/>
          </a:xfrm>
          <a:prstGeom prst="roundRect">
            <a:avLst>
              <a:gd name="adj" fmla="val 5263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3090672"/>
            <a:ext cx="68580" cy="1042415"/>
          </a:xfrm>
          <a:prstGeom prst="rect">
            <a:avLst/>
          </a:prstGeom>
          <a:solidFill>
            <a:srgbClr val="D14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3182843"/>
            <a:ext cx="3154679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40" b="1">
                <a:solidFill>
                  <a:srgbClr val="0F1B2D"/>
                </a:solidFill>
                <a:latin typeface="Arial"/>
                <a:ea typeface="微软雅黑"/>
              </a:rPr>
              <a:t>负面测试 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" y="3493739"/>
            <a:ext cx="3154679" cy="56253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40" b="0">
                <a:solidFill>
                  <a:srgbClr val="33425C"/>
                </a:solidFill>
                <a:latin typeface="Arial"/>
                <a:ea typeface="微软雅黑"/>
              </a:rPr>
              <a:t>让不满足齐套 / 等级条件的订单试发货 → 看闸门拦不拦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0" y="3090672"/>
            <a:ext cx="3502152" cy="1042415"/>
          </a:xfrm>
          <a:prstGeom prst="roundRect">
            <a:avLst>
              <a:gd name="adj" fmla="val 5263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3400" y="3090672"/>
            <a:ext cx="68580" cy="1042415"/>
          </a:xfrm>
          <a:prstGeom prst="rect">
            <a:avLst/>
          </a:prstGeom>
          <a:solidFill>
            <a:srgbClr val="D14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2855" y="3182843"/>
            <a:ext cx="3154679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40" b="1">
                <a:solidFill>
                  <a:srgbClr val="0F1B2D"/>
                </a:solidFill>
                <a:latin typeface="Arial"/>
                <a:ea typeface="微软雅黑"/>
              </a:rPr>
              <a:t>负面测试 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2855" y="3493739"/>
            <a:ext cx="3154679" cy="56253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40" b="0">
                <a:solidFill>
                  <a:srgbClr val="33425C"/>
                </a:solidFill>
                <a:latin typeface="Arial"/>
                <a:ea typeface="微软雅黑"/>
              </a:rPr>
              <a:t>让产能超限的产线再派一单 → 看是否硬拦截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19871" y="3090672"/>
            <a:ext cx="3502152" cy="1042415"/>
          </a:xfrm>
          <a:prstGeom prst="roundRect">
            <a:avLst>
              <a:gd name="adj" fmla="val 5263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19871" y="3090672"/>
            <a:ext cx="68580" cy="1042415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9327" y="3182843"/>
            <a:ext cx="3154679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40" b="1">
                <a:solidFill>
                  <a:srgbClr val="0F1B2D"/>
                </a:solidFill>
                <a:latin typeface="Arial"/>
                <a:ea typeface="微软雅黑"/>
              </a:rPr>
              <a:t>权限核对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9327" y="3493739"/>
            <a:ext cx="3154679" cy="56253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40" b="0">
                <a:solidFill>
                  <a:srgbClr val="33425C"/>
                </a:solidFill>
                <a:latin typeface="Arial"/>
                <a:ea typeface="微软雅黑"/>
              </a:rPr>
              <a:t>全部角色逐个登录，工作台与菜单与权限矩阵逐一比对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4370832"/>
            <a:ext cx="11055096" cy="1517904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6928" y="4370832"/>
            <a:ext cx="68580" cy="1517904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2" y="4476170"/>
            <a:ext cx="10671048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上线之后，看三个数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" y="4787066"/>
            <a:ext cx="10671048" cy="101388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>
              <a:spcBef>
                <a:spcPts val="200"/>
              </a:spcBef>
            </a:pPr>
            <a:r>
              <a:rPr sz="1100" b="0">
                <a:solidFill>
                  <a:srgbClr val="33425C"/>
                </a:solidFill>
                <a:latin typeface="Arial"/>
                <a:ea typeface="微软雅黑"/>
              </a:rPr>
              <a:t>① 数据及时率：报工 / 入库是否当天录入（不是月底补录）。低于 80% 说明界面或流程有问题，必须立刻改。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33425C"/>
                </a:solidFill>
                <a:latin typeface="Arial"/>
                <a:ea typeface="微软雅黑"/>
              </a:rPr>
              <a:t>② 闸门命中率：拦截的次数与原因分布。拦截多说明规则在生效；原因分布变化说明业务在变。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33425C"/>
                </a:solidFill>
                <a:latin typeface="Arial"/>
                <a:ea typeface="微软雅黑"/>
              </a:rPr>
              <a:t>③ 一线使用率：工位端 / 移动端的日活与单次操作耗时。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小结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这套系统的本质：一条主线 + 一道闸门 + 一套自动联动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功能可以按行业换，这三个东西决定项目成败。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4706"/>
            <a:ext cx="11058113" cy="12700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卷材制造执行系统（MES）· 系统方案（脱敏版）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920240"/>
            <a:ext cx="5394960" cy="1965960"/>
          </a:xfrm>
          <a:prstGeom prst="roundRect">
            <a:avLst>
              <a:gd name="adj" fmla="val 2790"/>
            </a:avLst>
          </a:prstGeom>
          <a:solidFill>
            <a:srgbClr val="E4EDFC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920240"/>
            <a:ext cx="68580" cy="1965960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025578"/>
            <a:ext cx="5010912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一条主线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336474"/>
            <a:ext cx="5010912" cy="146194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40" b="0">
                <a:solidFill>
                  <a:srgbClr val="0F1B2D"/>
                </a:solidFill>
                <a:latin typeface="Arial"/>
                <a:ea typeface="微软雅黑"/>
              </a:rPr>
              <a:t>卷号贯穿全程：状态、位置、余长、等级、谱系。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0F1B2D"/>
                </a:solidFill>
                <a:latin typeface="Arial"/>
                <a:ea typeface="微软雅黑"/>
              </a:rPr>
              <a:t>分裂（倒卷）与合并（合卷）后，谱系不能断——闭包表自动重定向。</a:t>
            </a:r>
          </a:p>
          <a:p>
            <a:pPr algn="l">
              <a:spcBef>
                <a:spcPts val="600"/>
              </a:spcBef>
            </a:pPr>
            <a:r>
              <a:rPr sz="1040" b="0">
                <a:solidFill>
                  <a:srgbClr val="6B7A90"/>
                </a:solidFill>
                <a:latin typeface="Arial"/>
                <a:ea typeface="微软雅黑"/>
              </a:rPr>
              <a:t>判断标准：拿起任何一卷，扫一下就知道它现在能干什么、不能干什么。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1920240"/>
            <a:ext cx="5376672" cy="1965960"/>
          </a:xfrm>
          <a:prstGeom prst="roundRect">
            <a:avLst>
              <a:gd name="adj" fmla="val 2790"/>
            </a:avLst>
          </a:prstGeom>
          <a:solidFill>
            <a:srgbClr val="FAE6E5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45352" y="1920240"/>
            <a:ext cx="68580" cy="1965960"/>
          </a:xfrm>
          <a:prstGeom prst="rect">
            <a:avLst/>
          </a:prstGeom>
          <a:solidFill>
            <a:srgbClr val="D14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3096" y="2025578"/>
            <a:ext cx="4992624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一道闸门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2336474"/>
            <a:ext cx="4992624" cy="146194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40" b="0">
                <a:solidFill>
                  <a:srgbClr val="0F1B2D"/>
                </a:solidFill>
                <a:latin typeface="Arial"/>
                <a:ea typeface="微软雅黑"/>
              </a:rPr>
              <a:t>等级匹配、防多产、产能硬拦截、换料校验、数据冻结。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0F1B2D"/>
                </a:solidFill>
                <a:latin typeface="Arial"/>
                <a:ea typeface="微软雅黑"/>
              </a:rPr>
              <a:t>拦住不是目的：每道闸门都有精确规则、明确出路与留痕要求。</a:t>
            </a:r>
          </a:p>
          <a:p>
            <a:pPr algn="l">
              <a:spcBef>
                <a:spcPts val="600"/>
              </a:spcBef>
            </a:pPr>
            <a:r>
              <a:rPr sz="1040" b="0">
                <a:solidFill>
                  <a:srgbClr val="6B7A90"/>
                </a:solidFill>
                <a:latin typeface="Arial"/>
                <a:ea typeface="微软雅黑"/>
              </a:rPr>
              <a:t>判断标准：现场敢不敢让系统拦住一次操作。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059936"/>
            <a:ext cx="11055096" cy="1234440"/>
          </a:xfrm>
          <a:prstGeom prst="roundRect">
            <a:avLst>
              <a:gd name="adj" fmla="val 4444"/>
            </a:avLst>
          </a:prstGeom>
          <a:solidFill>
            <a:srgbClr val="E2F3E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4059936"/>
            <a:ext cx="68580" cy="123444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165274"/>
            <a:ext cx="10671048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一套自动联动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4476170"/>
            <a:ext cx="10671048" cy="73042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40" b="0">
                <a:solidFill>
                  <a:srgbClr val="0F1B2D"/>
                </a:solidFill>
                <a:latin typeface="Arial"/>
                <a:ea typeface="微软雅黑"/>
              </a:rPr>
              <a:t>订单自动去重 → 报工自动倒扣 → 生产入库自动核销订单 → 发货自动生成应收 → 领料任务自动生成 → 呆滞自动分档预警。</a:t>
            </a:r>
          </a:p>
          <a:p>
            <a:pPr algn="l">
              <a:spcBef>
                <a:spcPts val="500"/>
              </a:spcBef>
            </a:pPr>
            <a:r>
              <a:rPr sz="1080" b="0">
                <a:solidFill>
                  <a:srgbClr val="6B7A90"/>
                </a:solidFill>
                <a:latin typeface="Arial"/>
                <a:ea typeface="微软雅黑"/>
              </a:rPr>
              <a:t>凡是「能自动就不要人点」的环节，都是后续智能化的低垂果实。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468112"/>
            <a:ext cx="11055096" cy="768096"/>
          </a:xfrm>
          <a:prstGeom prst="roundRect">
            <a:avLst>
              <a:gd name="adj" fmla="val 7142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7" y="5614416"/>
            <a:ext cx="10515600" cy="47548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60" b="0">
                <a:solidFill>
                  <a:srgbClr val="FFFFFF"/>
                </a:solidFill>
                <a:latin typeface="Arial"/>
                <a:ea typeface="微软雅黑"/>
              </a:rPr>
              <a:t>下一步的智能化空间：本系统已扎实做到「规则自动化 + 算法优化」两级；在此之上叠加 Agent，原则是 —— Agent 提议，规则裁决，人拍板。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