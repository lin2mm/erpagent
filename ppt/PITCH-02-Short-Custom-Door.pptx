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案例 B 的账要往「收入」方向讲，不是往「省钱」方向讲。收入的叙事强度是省钱的三倍。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非标厂老板最痛的是交期和毛利。这一页的顺序就是按这两条排的，不要调换。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第①条是全案最漂亮的一招，也是唯一不需要任何设备投入就能拿到的收益 —— 讲的时候把「串行改并行」这四个字说清楚。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非标厂的老板算的是周转率。用「同样一笔钱一年多转一圈」这句话，比讲任何百分比都直观。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周这个数字要配一句注解：纯开发周期，上线节奏按现场情况动态推进。宁可现在说清楚，也别在第十周被追问。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第三条（已有打标设备）是这套方案最独特的切入点：找客户已投入但没被利用的资产。如果客户厂里正好有，这一页就是全场的高光。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会后 48 小时内必须把症断书发过去。这一步的完成率，基本等于成交率。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这一页是留给客户的「对内讲稿」。他能不能说服股东和家人，决定这一单能不能成。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一 · 先说账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非标厂最贵的四样东西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功能清单放在后面。先把您每年在设计、返工和糊涂账上漏掉的钱摆到桌面上。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2571750" cy="5029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14B45"/>
                </a:solidFill>
                <a:latin typeface="Arial"/>
                <a:ea typeface="微软雅黑"/>
              </a:rPr>
              <a:t>第一样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被拖长的交期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订单一确认就等设计出图，车间在旁边干等两三周。接单 → 等图 → 拆单 → 下料，全串着走。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4710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4710" y="1883664"/>
            <a:ext cx="2571750" cy="50292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7590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89A28"/>
                </a:solidFill>
                <a:latin typeface="Arial"/>
                <a:ea typeface="微软雅黑"/>
              </a:rPr>
              <a:t>第二样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7590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说不清的毛利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7590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一张订单是赚是亏，基本要等年底算账才知道；亏了，也不知道亏在哪张单上。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2492" y="1883664"/>
            <a:ext cx="2571750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5372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E7A33"/>
                </a:solidFill>
                <a:latin typeface="Arial"/>
                <a:ea typeface="微软雅黑"/>
              </a:rPr>
              <a:t>第三样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追不到的人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5372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板上的码打完就完了，只活在设备里。真出质量事故，追责要的是责任链，手上却没有。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0274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0274" y="1883664"/>
            <a:ext cx="2571750" cy="5029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3153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6E56CF"/>
                </a:solidFill>
                <a:latin typeface="Arial"/>
                <a:ea typeface="微软雅黑"/>
              </a:rPr>
              <a:t>第四样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3153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发到工地才缺件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3153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齐套靠人记、靠人点。缺一件到现场才发现，返工、运费、工期索赔一起找上门。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169663"/>
            <a:ext cx="11055096" cy="1060704"/>
          </a:xfrm>
          <a:prstGeom prst="roundRect">
            <a:avLst>
              <a:gd name="adj" fmla="val 5172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169663"/>
            <a:ext cx="68580" cy="10607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275002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请注意：这四样不是「软件需求」，是财务报表上的科目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585898"/>
            <a:ext cx="10671048" cy="5566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① 收入 → 交期丢失的订单与投标机会　② 毛利 → 亏损订单与返工成本　③ 质量成本 → 追溯不力的索赔　④ 履约成本 → 工地返工与运费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58384"/>
            <a:ext cx="11055096" cy="841248"/>
          </a:xfrm>
          <a:prstGeom prst="roundRect">
            <a:avLst>
              <a:gd name="adj" fmla="val 6521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5449824"/>
            <a:ext cx="10506456" cy="6583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一句话：这套系统不解决「门做得好不好」，它解决「您这家厂转得快不快、算得清不清」。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二 · 说白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说到底，您买的是三件事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先说一句实话：理性的投资回报率只排第四。真正让老板拍板的是这三件。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3502152" cy="502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多接单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交期敢承诺、追溯拿得出、台账导得出。投标要的就是这两样：交期能力 + 可追溯。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3502152" cy="502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少赔钱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订单毛利下单当天可见，亏损单提前亮红灯；缺件拦在厂里，不让它变成工地返工。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3502152" cy="5029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不用我天天盯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手机上一眼看三个数：在手订单与交期、订单毛利、异常与待办。不用等中层转述。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24528"/>
            <a:ext cx="11055096" cy="1883664"/>
          </a:xfrm>
          <a:prstGeom prst="roundRect">
            <a:avLst>
              <a:gd name="adj" fmla="val 291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224528"/>
            <a:ext cx="68580" cy="1883664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329866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而第四件事 —— 算得清回报 —— 只要上面三件成立，账自然会好看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640762"/>
            <a:ext cx="10671048" cy="13796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如果这三件事里有两件跟您无关，那这个项目大概率不该现在做 —— 这也是我们筛选客户的标准。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下面一页把它拆成八样具体的东西，每一样都能对应到钱、天数或风险。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三 · 您得到什么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这套系统给您的八样东西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不讲架构、不讲菜单。每一样都换算成钱、天数或风险。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①  交期压两三周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两段拆单：设计画图的同时，长周期材料已经投产。不改工艺、不买设备、不加班。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4710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4710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9302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②  计件当天进账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9302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扫一枪就知道今天挣多少。工人自己要用，不用您去逼 —— 推行成本最低的一条。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③  订单毛利当天见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4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标准成本下单当天算出，负毛利订单提前亮红灯，不用等年底算总账。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4865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④  一樘门三分钟档案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4865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把打标机里已有的码激活成全厂数据主线：从下料到售后，一件产品一条档案。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⑤  发货齐套校验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少件、错件拦在厂里，不让它变成工地上的返工、运费和工期索赔。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4710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94710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9302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⑥  客户问进度秒回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9302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订单详情一页看全，设计确认全程留痕，不用满厂找人问。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2492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2492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7084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⑦  招标台账一键导出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7084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一键反查 + 台账导出，投标要的资质证据、被追责时的责任链都拿得出。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0274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0274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14865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⑧  断网也不停产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4865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车间边缘节点兜底，断网期间照常报工，恢复后自动同步，工时计件一分不少。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四 · 算账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算一笔账：投入靠什么赚回来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下面是算法和口径，不是报价、也不是承诺值。把贵厂的数字代进去，一次算清。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1105509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2121"/>
                <a:gridCol w="3979834"/>
                <a:gridCol w="46431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算哪一笔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怎么算（口径）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说明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交期周转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在制天数压缩 × 年产值 ÷ 365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40 → 25 天，同样一笔钱一年多转一圈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工地返工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单次返工 + 运费 + 工期索赔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齐套校验把缺件拦在出厂之前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亏损订单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负毛利订单金额 × 年占比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下单当天亮红灯，能提前改价或止损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计件统计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统计与争议仲裁工时 × 12 × 人力成本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明细当天到账，月底争议自然消失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一次丢标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单标金额 × 年投标次数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台账与档案拿得出，资格才拿得到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468112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468112"/>
            <a:ext cx="68580" cy="7498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573450"/>
            <a:ext cx="10671048" cy="5566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前四项是每年都在发生的小额失血，第五项是一次就决定一年的大额机会 —— 前者决定回本速度，后者决定您明年能站到哪个位置上。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 · 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多久见效：五步推进，每一步都能停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不要求您一次押上全厂。我们把风险切碎，每一步都可以停、可以看、再决定。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0 步 · 走车间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67712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半天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5" y="1984248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我们到现场，指出 3 个可量化的浪费点，当场说清算法。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7" y="1984248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不满意就不往下走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24328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624328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715768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1 步 · 症断书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008376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1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5" y="2724912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一页纸：痛点 → 数字 → 路径 → 投入区间。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7" y="2724912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内部对不齐就先停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64992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364992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56432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2 步 · 只读驾驶舱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749040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约 2 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5" y="3465576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三张老板报表 + 手机能看；零操作，不增加任何人工作量。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7" y="3465576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数据接不上我们兜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105656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105656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197096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3 步 · 试点上线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489704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8 周开发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5" y="4206240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五条线并行开发，双周真机演示；开发完成后试点、培训、上线。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4206240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试点不达标不推广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846320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846320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937760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4 步 · 全厂推广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230368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按范围分批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015" y="4946904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按产品线与车间分批推，边推边培训。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7" y="4946904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每批独立验收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605272"/>
            <a:ext cx="11055096" cy="621792"/>
          </a:xfrm>
          <a:prstGeom prst="roundRect">
            <a:avLst>
              <a:gd name="adj" fmla="val 8823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5696712"/>
            <a:ext cx="1050645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第 2 步是从「听完方案」到「相信你能做」之间最短的一条路：只读、零操作、两周可见。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十二 · 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什么样的厂适合做，什么样的不适合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我们把筛选标准也写出来。如果对不上，说明现在不是做这件事的时候。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0388" cy="3255264"/>
          </a:xfrm>
          <a:prstGeom prst="roundRect">
            <a:avLst>
              <a:gd name="adj" fmla="val 1685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32552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适合做（五条）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5006340" cy="27512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非标定制、多品种小批量，产品有明确工序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订单金额大、交期长，客户要追溯或要台账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已有打标或编号设备（一笔已投入没利用的资产）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已在用进销存或总账系统，有物料编码（哪怕很乱）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老板愿意参加双周演示，能按关键用户排出工时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883664"/>
            <a:ext cx="5390388" cy="3255264"/>
          </a:xfrm>
          <a:prstGeom prst="roundRect">
            <a:avLst>
              <a:gd name="adj" fmla="val 1685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883664"/>
            <a:ext cx="68580" cy="325526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79" y="1989002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暂时不适合（五条）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79" y="2299898"/>
            <a:ext cx="5006340" cy="27512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大批量标准品、拼设备和自动化，管理价值密度低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完全手工台账，且没人愿意清洗主数据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业务负责人明确反对，而您不打算处理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只想买一套软件放着看，没有对应用人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正处在剧烈转型或生死线上，系统会被第一个砍掉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85232"/>
            <a:ext cx="11055096" cy="859536"/>
          </a:xfrm>
          <a:prstGeom prst="roundRect">
            <a:avLst>
              <a:gd name="adj" fmla="val 6382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376672"/>
            <a:ext cx="10506456" cy="6766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说句实在话：不适合的项目我们会直接说。烂项目的代价，比没项目大。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十四 ·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下一步：第一件事怎么开始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不需要现在就决定买不买。先把最容易看清的几件事做了。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47672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半天 · 走车间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47672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您带我们走一圈，我们在现场指出 3 个可量化的浪费点，当场说清单价与算法。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52344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752344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852927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1 周 · 数据体检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852927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看旧系统能导出什么、主数据乱到什么程度、打标设备能不能取数 —— 这决定后面要几周。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57600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657600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758184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1 周 · 一页症断书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758184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痛点、数字、路径、投入区间、分期建议。您可以拿它去跟股东和管理层对齐。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81728"/>
            <a:ext cx="5390388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681728"/>
            <a:ext cx="68580" cy="15361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787066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我方准备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097962"/>
            <a:ext cx="5006340" cy="103217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同规模同工序的参观安排（如果您想看）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一份数据体检清单与症断书模板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一份正式报价单：含硬件清单与年维护费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4681728"/>
            <a:ext cx="5390388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4681728"/>
            <a:ext cx="68580" cy="15361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9379" y="4787066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贵方准备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9379" y="5097962"/>
            <a:ext cx="5006340" cy="103217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半天现场时间：老板 + 生产与设计负责人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近 12 个月的订单、交期与毛利数据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旧系统的导出权限（只读即可）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91440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一页速查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  <a:ea typeface="微软雅黑"/>
              </a:rPr>
              <a:t>这一页您可以拿去给股东、家人、管理层看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7E90AA"/>
                </a:solidFill>
                <a:latin typeface="Arial"/>
                <a:ea typeface="微软雅黑"/>
              </a:rPr>
              <a:t>非标定制品智能制造一体化 · 老板决策简报（脱敏版） · 20 分钟面谈版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7E90AA"/>
                </a:solidFill>
                <a:latin typeface="Arial"/>
                <a:ea typeface="微软雅黑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买的是什么？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18105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多接单、少赔钱、不用天天盯 —— 三件事，不是一堆功能。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048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4963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要花多少钱？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4963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软件 + 硬件 + 实施 + 培训 + 年维护，一次列全；分期绑里程碑，硬件可自采。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06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1821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多久见东西？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1821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约 2 周在手机上看真实数据；8 周纯开发后试点上线；之后按产品线推广。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764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867911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要谁参与？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867911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一个能拍板的人 + 关键用户头两周约一半工时 + 一条变更纪律。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622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537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最大风险？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45537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推行。对策：先让一线受益、驾驶舱零操作、先跑一条产品线。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480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2395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怎么算做成？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52395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当场跑全流程 + 三处负面测试；拦不住就算我们没做完。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870448"/>
            <a:ext cx="11055096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8FA3BF"/>
                </a:solidFill>
                <a:latin typeface="Arial"/>
                <a:ea typeface="微软雅黑"/>
              </a:rPr>
              <a:t>我们不承诺做不到的事，也不接不合适的项目 —— 这是这套方案最硬的底气。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