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开场先把「8 周是纯开发周期」这句话说透，主动划清边界。这一句会让老板觉得你实在，后面的承诺才有人信。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案例 B 的账要往「收入」方向讲，不是往「省钱」方向讲。收入的叙事强度是省钱的三倍。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非标厂老板最痛的是交期和毛利。这一页的顺序就是按这两条排的，不要调换。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第①条是全案最漂亮的一招，也是唯一不需要任何设备投入就能拿到的收益 —— 讲的时候把「串行改并行」这四个字说清楚。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非标厂的老板算的是周转率。用「同样一笔钱一年多转一圈」这句话，比讲任何百分比都直观。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第三条在非标厂尤其重要：硬件清单长（平板、大屏、扫码枪、边缘节点），自己先摆出来，老板会觉得你替他着想。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非标厂多了「设计负责人」这一行。两段拆单能不能落地，八成取决于他配不配合。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这一页是全场最重要的信任动作。念完它，再谈钱和工期，阻力会小很多。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把客户的投入讲在前面，而且给具体数字（一半工时、每周一次会）。空泛地说「需要贵司配合」等于没说。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硬件这笔钱一定要自己先说。第二只靴子掉下来的时候，前面所有信任都会打折。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周这个数字要配一句注解：纯开发周期，上线节奏按现场情况动态推进。宁可现在说清楚，也别在第十周被追问。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负面测试是最有说服力的一段。敢让客户拔网线、敢让他试越权，等于把风险自己扛了。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第三条（已有打标设备）是这套方案最独特的切入点：找客户已投入但没被利用的资产。如果客户厂里正好有，这一页就是全场的高光。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这一页把老板从「执行责任人」变回「受益人和裁判」，这是成交的关键转身。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会后 48 小时内必须把症断书发过去。这一步的完成率，基本等于成交率。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这一页是留给客户的「对内讲稿」。他能不能说服股东和家人，决定这一单能不能成。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91440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7E90AA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7E90A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97280"/>
            <a:ext cx="877824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2F6BE4"/>
                </a:solidFill>
                <a:latin typeface="Arial"/>
                <a:ea typeface="微软雅黑"/>
              </a:rPr>
              <a:t>给老板的决策简报 · 只讲钱、风险和下一步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0424160" cy="1417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非标定制品智能制造一体化</a:t>
            </a:r>
          </a:p>
          <a:p>
            <a:pPr algn="l">
              <a:spcBef>
                <a:spcPts val="800"/>
              </a:spcBef>
            </a:pPr>
            <a:r>
              <a:rPr sz="1650" b="0">
                <a:solidFill>
                  <a:srgbClr val="A9BAD4"/>
                </a:solidFill>
                <a:latin typeface="Arial"/>
                <a:ea typeface="微软雅黑"/>
              </a:rPr>
              <a:t>交期压三周 · 工人抢着扫码 · 订单赚不赚钱当天就知道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004820"/>
            <a:ext cx="5120640" cy="2540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236976"/>
            <a:ext cx="10424160" cy="10972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0">
                <a:solidFill>
                  <a:srgbClr val="C6D2E4"/>
                </a:solidFill>
                <a:latin typeface="Arial"/>
                <a:ea typeface="微软雅黑"/>
              </a:rPr>
              <a:t>这份材料不讲功能清单，只回答四个问题：设计、返工和糊涂账上每年损失多少、这套系统怎么把它拿回来、您要出什么、多久能看到东西。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517136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608576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  <a:ea typeface="微软雅黑"/>
              </a:rPr>
              <a:t>40 → 25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92624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非标交期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0048" y="4517136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4608576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  <a:ea typeface="微软雅黑"/>
              </a:rPr>
              <a:t>8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992624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纯开发周期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4517136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4608576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  <a:ea typeface="微软雅黑"/>
              </a:rPr>
              <a:t>一码到底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4992624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一件产品一条档案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4517136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4608576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  <a:ea typeface="微软雅黑"/>
              </a:rPr>
              <a:t>断网不停产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4992624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边缘节点兜底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41264"/>
            <a:ext cx="11055096" cy="694944"/>
          </a:xfrm>
          <a:prstGeom prst="roundRect">
            <a:avLst>
              <a:gd name="adj" fmla="val 7894"/>
            </a:avLst>
          </a:prstGeom>
          <a:solidFill>
            <a:srgbClr val="1B2C46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646602"/>
            <a:ext cx="10762488" cy="50182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A9BAD4"/>
                </a:solidFill>
                <a:latin typeface="Arial"/>
                <a:ea typeface="微软雅黑"/>
              </a:rPr>
              <a:t>口径声明：8 周是纯开发周期，不含集成调试、数据迁移、培训与上线部署 —— 它们安排在开发完成之后，按实际进度推进，不预埋拍脑袋的日期。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 · 先说账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非标厂最贵的四样东西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功能清单放在后面。先把您每年在设计、返工和糊涂账上漏掉的钱摆到桌面上。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2571750" cy="5029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14B45"/>
                </a:solidFill>
                <a:latin typeface="Arial"/>
                <a:ea typeface="微软雅黑"/>
              </a:rPr>
              <a:t>第一样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被拖长的交期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订单一确认就等设计出图，车间在旁边干等两三周。接单 → 等图 → 拆单 → 下料，全串着走。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4710" y="1883664"/>
            <a:ext cx="2571750" cy="502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7590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89A28"/>
                </a:solidFill>
                <a:latin typeface="Arial"/>
                <a:ea typeface="微软雅黑"/>
              </a:rPr>
              <a:t>第二样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7590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说不清的毛利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一张订单是赚是亏，基本要等年底算账才知道；亏了，也不知道亏在哪张单上。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2492" y="1883664"/>
            <a:ext cx="2571750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5372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E7A33"/>
                </a:solidFill>
                <a:latin typeface="Arial"/>
                <a:ea typeface="微软雅黑"/>
              </a:rPr>
              <a:t>第三样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追不到的人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5372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板上的码打完就完了，只活在设备里。真出质量事故，追责要的是责任链，手上却没有。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0274" y="1883664"/>
            <a:ext cx="2571750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0274" y="1883664"/>
            <a:ext cx="2571750" cy="5029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3153" y="2039112"/>
            <a:ext cx="220599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6E56CF"/>
                </a:solidFill>
                <a:latin typeface="Arial"/>
                <a:ea typeface="微软雅黑"/>
              </a:rPr>
              <a:t>第四样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3153" y="2304288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发到工地才缺件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3153" y="2962656"/>
            <a:ext cx="2205990" cy="93268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齐套靠人记、靠人点。缺一件到现场才发现，返工、运费、工期索赔一起找上门。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69663"/>
            <a:ext cx="11055096" cy="1060704"/>
          </a:xfrm>
          <a:prstGeom prst="roundRect">
            <a:avLst>
              <a:gd name="adj" fmla="val 5172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169663"/>
            <a:ext cx="68580" cy="10607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275002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请注意：这四样不是「软件需求」，是财务报表上的科目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585898"/>
            <a:ext cx="10671048" cy="5566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① 收入 → 交期丢失的订单与投标机会　② 毛利 → 亏损订单与返工成本　③ 质量成本 → 追溯不力的索赔　④ 履约成本 → 工地返工与运费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58384"/>
            <a:ext cx="11055096" cy="841248"/>
          </a:xfrm>
          <a:prstGeom prst="roundRect">
            <a:avLst>
              <a:gd name="adj" fmla="val 6521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5449824"/>
            <a:ext cx="10506456" cy="6583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一句话：这套系统不解决「门做得好不好」，它解决「您这家厂转得快不快、算得清不清」。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二 · 说白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说到底，您买的是三件事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先说一句实话：理性的投资回报率只排第四。真正让老板拍板的是这三件。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3502152" cy="502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多接单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交期敢承诺、追溯拿得出、台账导得出。投标要的就是这两样：交期能力 + 可追溯。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3502152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少赔钱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订单毛利下单当天可见，亏损单提前亮红灯；缺件拦在厂里，不让它变成工地返工。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3502152" cy="5029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84831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0F1B2D"/>
                </a:solidFill>
                <a:latin typeface="Arial"/>
                <a:ea typeface="微软雅黑"/>
              </a:rPr>
              <a:t>不用我天天盯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615184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手机上一眼看三个数：在手订单与交期、订单毛利、异常与待办。不用等中层转述。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24528"/>
            <a:ext cx="11055096" cy="1883664"/>
          </a:xfrm>
          <a:prstGeom prst="roundRect">
            <a:avLst>
              <a:gd name="adj" fmla="val 291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224528"/>
            <a:ext cx="68580" cy="1883664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329866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而第四件事 —— 算得清回报 —— 只要上面三件成立，账自然会好看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640762"/>
            <a:ext cx="10671048" cy="13796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如果这三件事里有两件跟您无关，那这个项目大概率不该现在做 —— 这也是我们筛选客户的标准。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下面一页把它拆成八样具体的东西，每一样都能对应到钱、天数或风险。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三 · 您得到什么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这套系统给您的八样东西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不讲架构、不讲菜单。每一样都换算成钱、天数或风险。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①  交期压两三周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两段拆单：设计画图的同时，长周期材料已经投产。不改工艺、不买设备、不加班。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4710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9302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②  计件当天进账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9302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扫一枪就知道今天挣多少。工人自己要用，不用您去逼 —— 推行成本最低的一条。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③  订单毛利当天见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标准成本下单当天算出，负毛利订单提前亮红灯，不用等年底算总账。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847088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847088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4865" y="1993392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④  一樘门三分钟档案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4865" y="2395728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把打标机里已有的码激活成全厂数据主线：从下料到售后，一件产品一条档案。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⑤  发货齐套校验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少件、错件拦在厂里，不让它变成工地上的返工、运费和工期索赔。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4710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4710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59302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⑥  客户问进度秒回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9302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订单详情一页看全，设计确认全程留痕，不用满厂找人问。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2492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2492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7084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⑦  招标台账一键导出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7084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一键反查 + 台账导出，投标要的资质证据、被追责时的责任链都拿得出。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0274" y="4005072"/>
            <a:ext cx="2571750" cy="2048256"/>
          </a:xfrm>
          <a:prstGeom prst="roundRect">
            <a:avLst>
              <a:gd name="adj" fmla="val 267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0274" y="4005072"/>
            <a:ext cx="2571750" cy="45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14865" y="4151376"/>
            <a:ext cx="2242566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60" b="1">
                <a:solidFill>
                  <a:srgbClr val="0F1B2D"/>
                </a:solidFill>
                <a:latin typeface="Arial"/>
                <a:ea typeface="微软雅黑"/>
              </a:rPr>
              <a:t>⑧  断网也不停产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4865" y="4553712"/>
            <a:ext cx="2242566" cy="1371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车间边缘节点兜底，断网期间照常报工，恢复后自动同步，工时计件一分不少。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四 · 算账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算一笔账：投入靠什么赚回来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下面是算法和口径，不是报价、也不是承诺值。把贵厂的数字代进去，一次算清。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121"/>
                <a:gridCol w="3979834"/>
                <a:gridCol w="46431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算哪一笔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怎么算（口径）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说明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交期周转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在制天数压缩 × 年产值 ÷ 365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40 → 25 天，同样一笔钱一年多转一圈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工地返工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单次返工 + 运费 + 工期索赔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齐套校验把缺件拦在出厂之前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亏损订单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负毛利订单金额 × 年占比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下单当天亮红灯，能提前改价或止损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计件统计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统计与争议仲裁工时 × 12 × 人力成本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明细当天到账，月底争议自然消失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一次丢标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单标金额 × 年投标次数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台账与档案拿得出，资格才拿得到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468112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468112"/>
            <a:ext cx="68580" cy="7498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573450"/>
            <a:ext cx="10671048" cy="5566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前四项是每年都在发生的小额失血，第五项是一次就决定一年的大额机会 —— 前者决定回本速度，后者决定您明年能站到哪个位置上。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五 · 您的顾虑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您最担心的四件事，我们直接答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不绕弯子。这四句话我们每周都听到，答案也早就准备好了。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0388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2103120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8"/>
            <a:ext cx="491490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D14B45"/>
                </a:solidFill>
                <a:latin typeface="Arial"/>
                <a:ea typeface="微软雅黑"/>
              </a:rPr>
              <a:t>「我这帮人用不起来」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14016"/>
            <a:ext cx="4914900" cy="1444751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30" b="0">
                <a:solidFill>
                  <a:srgbClr val="33425C"/>
                </a:solidFill>
                <a:latin typeface="Arial"/>
                <a:ea typeface="微软雅黑"/>
              </a:rPr>
              <a:t>一屏一动作，工人只看得到自己那几个菜单。而且先让一线受益 —— 计件明细当天进他的账 —— 再谈约束。推行靠机制，不靠您天天盯。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883664"/>
            <a:ext cx="5390388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883664"/>
            <a:ext cx="68580" cy="2103120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79" y="2029968"/>
            <a:ext cx="491490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D89A28"/>
                </a:solidFill>
                <a:latin typeface="Arial"/>
                <a:ea typeface="微软雅黑"/>
              </a:rPr>
              <a:t>「我们数据这么乱」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79" y="2414016"/>
            <a:ext cx="4914900" cy="1444751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30" b="0">
                <a:solidFill>
                  <a:srgbClr val="33425C"/>
                </a:solidFill>
                <a:latin typeface="Arial"/>
                <a:ea typeface="微软雅黑"/>
              </a:rPr>
              <a:t>主数据我们给模板与校验；旧系统导不出明细，就只迁汇总余额，迁移范围双方书面确认。这两句我们会写进方案，不口头说说。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8224"/>
            <a:ext cx="5390388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8224"/>
            <a:ext cx="68580" cy="2103120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224528"/>
            <a:ext cx="491490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DE7A33"/>
                </a:solidFill>
                <a:latin typeface="Arial"/>
                <a:ea typeface="微软雅黑"/>
              </a:rPr>
              <a:t>「到底要花多少钱」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608576"/>
            <a:ext cx="4914900" cy="1444751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30" b="0">
                <a:solidFill>
                  <a:srgbClr val="33425C"/>
                </a:solidFill>
                <a:latin typeface="Arial"/>
                <a:ea typeface="微软雅黑"/>
              </a:rPr>
              <a:t>软件、硬件、实施、培训、年维护一次列全；平板、大屏、扫码枪、边缘节点单独列，您可以自采。分期绑里程碑。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4078224"/>
            <a:ext cx="5390388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78224"/>
            <a:ext cx="68580" cy="21031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9379" y="4224528"/>
            <a:ext cx="4914900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6E56CF"/>
                </a:solidFill>
                <a:latin typeface="Arial"/>
                <a:ea typeface="微软雅黑"/>
              </a:rPr>
              <a:t>「以后会不会被绑定」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9379" y="4608576"/>
            <a:ext cx="4914900" cy="1444751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30" b="0">
                <a:solidFill>
                  <a:srgbClr val="33425C"/>
                </a:solidFill>
                <a:latin typeface="Arial"/>
                <a:ea typeface="微软雅黑"/>
              </a:rPr>
              <a:t>数据永远归您，接口开放、导出不设限；核心实施人员不中途换人写进合同；后续模块的价格区间也提前给您。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六 · 人的问题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谁会反对，为什么，怎么安排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落地最大的阻力从来不是技术，是人的位置变了。这一页建议您先看。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19"/>
                <a:gridCol w="3979834"/>
                <a:gridCol w="4864242"/>
              </a:tblGrid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谁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他真正担心什么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建议怎么安排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生产部长 / 厂长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排产与报工透明后，调度权变小、余地变少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请他定「排产优先级规则」，系统按他的规则跑，规则是他的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设计负责人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两段拆单改变了出图与拆图的习惯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请他定义「可拆解边界」，不确定的先走老流程，试点后再放开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老师傅 / 班组长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经验被写成标准，议价能力下降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请他们当口径评审，标准里署他们的名；让他们教系统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财务 / 会计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计件与成本口径变了，怕账对不上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先上只读报表，成本口径由财务确认后才上线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486400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5577840"/>
            <a:ext cx="10506456" cy="566927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一个提醒：如果反对的是业务负责人，而您不打算处理，我们建议这个项目先别做 —— 这是经验，不是推托。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七 · 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这套方案明确不做什么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主动把边界说清，比事后解释便宜一百倍。以下五项，本期不做。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不做三维与增强现实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1984248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那是第三批的营销差异化题目；首版只预留数据接口与菜单位，不占工时。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33472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633472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734056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不做套料优化与余料利用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79" y="2734056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排在第二批。首版先保证「用得准、算得清」，再谈省料。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83279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83279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483863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不做完整业财一体化总账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3483863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记账与报税仍在现有总账系统里；首版先把订单毛利算准，各管一段。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33087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33087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233672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不做设备底层控制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79" y="4233672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只做取数与接口对接，不改 PLC 逻辑，不动设备怎么跑。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82896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882896"/>
            <a:ext cx="68580" cy="676656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983480"/>
            <a:ext cx="233172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不做全自动排产（APS）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79" y="4983480"/>
            <a:ext cx="8284464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先做插单响应优先级与可视排程；自动排产是下一期的题目。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779008"/>
            <a:ext cx="11055096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D14B45"/>
                </a:solidFill>
                <a:latin typeface="Arial"/>
                <a:ea typeface="微软雅黑"/>
              </a:rPr>
              <a:t>这份后移清单需要在会上得到认可 —— 它就是「8 周纯开发」这个承诺的对价。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八 · 对价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需要您出的三样东西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这套方案不是把风险全推给您。但有三样，只有您能出。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3502152" cy="502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一个能拍板的人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78608"/>
            <a:ext cx="3063240" cy="12435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项目归口到人，每周一次例会不缺席。不是挂名，是能当场定优先级、定口径的人。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3502152" cy="502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关键用户的工时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578608"/>
            <a:ext cx="3063240" cy="12435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头两周关键用户投入不低于一半工时，六件事定到人：主数据、单价、设备协议、旧系统导出、培训组织、变更纪律。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10312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3502152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一条变更纪律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578608"/>
            <a:ext cx="3063240" cy="12435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设计冻结后要改，走书面评估：影响工期与费用的，双方签字。这是「8 周」能不能守住的第一条纪律。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33087"/>
            <a:ext cx="11055096" cy="2048256"/>
          </a:xfrm>
          <a:prstGeom prst="roundRect">
            <a:avLst>
              <a:gd name="adj" fmla="val 2678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33087"/>
            <a:ext cx="68580" cy="20482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38426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说到底：您要出的不是钱，是注意力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49322"/>
            <a:ext cx="10671048" cy="15442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参考区间：老板本人每周一次例会（可以很短）；关键用户头两周约一半工时；一个能拍板的归口人。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这是项目成败最大的变量 —— 比软件本身重要得多。我们会在章程里把它定到人、定到周。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九 · 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钱怎么算：一次列全，不留第二只靴子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老板最怕的不是贵，是算不清总账。这里是投入结构，金额按规模与配置单独出具。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815"/>
                <a:gridCol w="4643140"/>
                <a:gridCol w="46431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投入项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包含什么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计费口径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软件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一体化平台 + 八个入口 + 权限体系 + 外部门户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按模块与用户数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硬件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工位平板 / 车间大屏 / 扫码枪 / 边缘节点 / 采集网关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按点位清单，可自行采购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实施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蓝图、主数据、数据迁移、联调、试点陪跑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按人天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培训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分角色培训、操作手册、上线陪跑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按轮次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年维护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版本升级、问题响应、远程支持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软件金额的固定比例，明码标价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285232"/>
            <a:ext cx="352653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285232"/>
            <a:ext cx="68580" cy="96926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377403"/>
            <a:ext cx="317906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分期绑里程碑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688299"/>
            <a:ext cx="3179064" cy="4893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80" b="0">
                <a:solidFill>
                  <a:srgbClr val="33425C"/>
                </a:solidFill>
                <a:latin typeface="Arial"/>
                <a:ea typeface="微软雅黑"/>
              </a:rPr>
              <a:t>蓝图签字 / 真机演示通过 / 试点上线 / 全厂推广，各付一段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5285232"/>
            <a:ext cx="352653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1208" y="5285232"/>
            <a:ext cx="68580" cy="9692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0664" y="5377403"/>
            <a:ext cx="317906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软硬件分开报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0664" y="5688299"/>
            <a:ext cx="3179064" cy="4893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80" b="0">
                <a:solidFill>
                  <a:srgbClr val="33425C"/>
                </a:solidFill>
                <a:latin typeface="Arial"/>
                <a:ea typeface="微软雅黑"/>
              </a:rPr>
              <a:t>硬件单独列出，方便比价与自采，也避免「后面又加钱」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5285232"/>
            <a:ext cx="352653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5285232"/>
            <a:ext cx="68580" cy="96926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5377403"/>
            <a:ext cx="317906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后续模块有价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5688299"/>
            <a:ext cx="3179064" cy="4893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80" b="0">
                <a:solidFill>
                  <a:srgbClr val="33425C"/>
                </a:solidFill>
                <a:latin typeface="Arial"/>
                <a:ea typeface="微软雅黑"/>
              </a:rPr>
              <a:t>三批迭代的预算区间都给您，不做无底洞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 · 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多久见效：五步推进，每一步都能停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不要求您一次押上全厂。我们把风险切碎，每一步都可以停、可以看、再决定。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0 步 · 走车间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5" y="1984248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我们到现场，指出 3 个可量化的浪费点，当场说清算法。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7" y="1984248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不满意就不往下走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24328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624328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715768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1 步 · 症断书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008376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1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5" y="2724912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一页纸：痛点 → 数字 → 路径 → 投入区间。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7" y="2724912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内部对不齐就先停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64992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364992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56432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2 步 · 只读驾驶舱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749040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约 2 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5" y="3465576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三张老板报表 + 手机能看；零操作，不增加任何人工作量。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7" y="3465576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数据接不上我们兜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105656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105656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197096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3 步 · 试点上线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489704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8 周开发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5" y="4206240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五条线并行开发，双周真机演示；开发完成后试点、培训、上线。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7" y="4206240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试点不达标不推广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846320"/>
            <a:ext cx="11055096" cy="676656"/>
          </a:xfrm>
          <a:prstGeom prst="roundRect">
            <a:avLst>
              <a:gd name="adj" fmla="val 6486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846320"/>
            <a:ext cx="68580" cy="67665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937760"/>
            <a:ext cx="2606039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第 4 步 · 全厂推广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230368"/>
            <a:ext cx="2606039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按范围分批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5" y="4946904"/>
            <a:ext cx="4928615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按产品线与车间分批推，边推边培训。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7" y="4946904"/>
            <a:ext cx="2697480" cy="4754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1">
                <a:solidFill>
                  <a:srgbClr val="DE7A33"/>
                </a:solidFill>
                <a:latin typeface="Arial"/>
                <a:ea typeface="微软雅黑"/>
              </a:rPr>
              <a:t>每批独立验收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605272"/>
            <a:ext cx="11055096" cy="621792"/>
          </a:xfrm>
          <a:prstGeom prst="roundRect">
            <a:avLst>
              <a:gd name="adj" fmla="val 8823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5696712"/>
            <a:ext cx="1050645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第 2 步是从「听完方案」到「相信你能做」之间最短的一条路：只读、零操作、两周可见。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十一 · 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怎么验收：不看文档，看真机拦不拦得住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我们不用厚厚一叠文档证明做完了。验收方式就一条：当着您的面跑一遍。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3502152" cy="5029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越权，能看能改吗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78608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拿 A 厂区的账号查 B 厂区库存、拿外部单位的账号看别人的单，必须看不见、改不了。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3502152" cy="502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断网，能报工吗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578608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拔掉网线继续扫码报工，恢复后数据自动补齐，不重、不漏、不错。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3502152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450" b="1">
                <a:solidFill>
                  <a:srgbClr val="0F1B2D"/>
                </a:solidFill>
                <a:latin typeface="Arial"/>
                <a:ea typeface="微软雅黑"/>
              </a:rPr>
              <a:t>改价，拦得住吗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578608"/>
            <a:ext cx="3063240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用工人的账号去改单价或订单数量，必须被拒绝、留痕，且记录可查。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87952"/>
            <a:ext cx="11055096" cy="1956816"/>
          </a:xfrm>
          <a:prstGeom prst="roundRect">
            <a:avLst>
              <a:gd name="adj" fmla="val 2803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87952"/>
            <a:ext cx="68580" cy="19568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93290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再加一遍端到端真机流程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604186"/>
            <a:ext cx="10671048" cy="145279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接单 → 设计 → 拆单 → 下料 → 报工 → 检验 → 装配 → 入库 → 发货 → 安装，全部真机、真数据。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任何一处过不去，都算我们没做完 —— 把不确定性从您身上挪到我们身上。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十二 · 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什么样的厂适合做，什么样的不适合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我们把筛选标准也写出来。如果对不上，说明现在不是做这件事的时候。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0388" cy="3255264"/>
          </a:xfrm>
          <a:prstGeom prst="roundRect">
            <a:avLst>
              <a:gd name="adj" fmla="val 1685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32552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适合做（五条）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06340" cy="27512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非标定制、多品种小批量，产品有明确工序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订单金额大、交期长，客户要追溯或要台账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已有打标或编号设备（一笔已投入没利用的资产）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已在用进销存或总账系统，有物料编码（哪怕很乱）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老板愿意参加双周演示，能按关键用户排出工时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883664"/>
            <a:ext cx="5390388" cy="3255264"/>
          </a:xfrm>
          <a:prstGeom prst="roundRect">
            <a:avLst>
              <a:gd name="adj" fmla="val 1685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883664"/>
            <a:ext cx="68580" cy="325526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79" y="1989002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暂时不适合（五条）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79" y="2299898"/>
            <a:ext cx="5006340" cy="27512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大批量标准品、拼设备和自动化，管理价值密度低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完全手工台账，且没人愿意清洗主数据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业务负责人明确反对，而您不打算处理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只想买一套软件放着看，没有对应用人</a:t>
            </a:r>
          </a:p>
          <a:p>
            <a:pPr algn="l">
              <a:spcBef>
                <a:spcPts val="6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正处在剧烈转型或生死线上，系统会被第一个砍掉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85232"/>
            <a:ext cx="11055096" cy="859536"/>
          </a:xfrm>
          <a:prstGeom prst="roundRect">
            <a:avLst>
              <a:gd name="adj" fmla="val 6382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376672"/>
            <a:ext cx="10506456" cy="6766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说句实在话：不适合的项目我们会直接说。烂项目的代价，比没项目大。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十三 · 推行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如果您担心「推不动」，我们用机制帮您推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老板最深的顾虑往往不是钱，是「最后变成我一个人扛」。这一页专门讲这件事。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1055096" cy="868680"/>
          </a:xfrm>
          <a:prstGeom prst="roundRect">
            <a:avLst>
              <a:gd name="adj" fmla="val 505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3017520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先让一线受益，再上约束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1984248"/>
            <a:ext cx="7598664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扫一枪，计件明细当天进他的账；少填一本台账、少挨一次骂。工人自己要用，您不用去逼。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34640"/>
            <a:ext cx="11055096" cy="868680"/>
          </a:xfrm>
          <a:prstGeom prst="roundRect">
            <a:avLst>
              <a:gd name="adj" fmla="val 505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834640"/>
            <a:ext cx="68580" cy="86868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935224"/>
            <a:ext cx="3017520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驾驶舱第一天可用，零操作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2935224"/>
            <a:ext cx="7598664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只看不批、不用求人配合。您本人先得利，而且不用为它去开任何会。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85616"/>
            <a:ext cx="11055096" cy="868680"/>
          </a:xfrm>
          <a:prstGeom prst="roundRect">
            <a:avLst>
              <a:gd name="adj" fmla="val 505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785616"/>
            <a:ext cx="68580" cy="868680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886200"/>
            <a:ext cx="3017520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异常和断网，系统自己兜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3886200"/>
            <a:ext cx="7598664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边缘节点兜底，断网照常报工；冲突进裁决队列，工时计件一分不少，不甩给工人。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36592"/>
            <a:ext cx="11055096" cy="868680"/>
          </a:xfrm>
          <a:prstGeom prst="roundRect">
            <a:avLst>
              <a:gd name="adj" fmla="val 505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736592"/>
            <a:ext cx="68580" cy="8686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837176"/>
            <a:ext cx="3017520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先跑一条产品线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79" y="4837176"/>
            <a:ext cx="7598664" cy="6675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推行半径缩小到一个车间、一类产品，出问题影响可控；成了再扩，失败了损失有限。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669280"/>
            <a:ext cx="11055096" cy="585216"/>
          </a:xfrm>
          <a:prstGeom prst="roundRect">
            <a:avLst>
              <a:gd name="adj" fmla="val 9375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5760720"/>
            <a:ext cx="1050645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rial"/>
                <a:ea typeface="微软雅黑"/>
              </a:rPr>
              <a:t>一组对比：靠老板盯的系统，三个月后回到手工作业；靠一线自利的系统，三个月后没人愿意回到过去。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十四 ·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下一步：第一件事怎么开始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不需要现在就决定买不买。先把最容易看清的几件事做了。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4706"/>
            <a:ext cx="11058113" cy="12700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47672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半天 · 走车间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47672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您带我们走一圈，我们在现场指出 3 个可量化的浪费点，当场说清单价与算法。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52344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52344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852927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1 周 · 数据体检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852927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看旧系统能导出什么、主数据乱到什么程度、打标设备能不能取数 —— 这决定后面要几周。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57600"/>
            <a:ext cx="11055096" cy="82296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58184"/>
            <a:ext cx="201168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1 周 · 一页症断书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758184"/>
            <a:ext cx="8604504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痛点、数字、路径、投入区间、分期建议。您可以拿它去跟股东和管理层对齐。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81728"/>
            <a:ext cx="5390388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681728"/>
            <a:ext cx="68580" cy="15361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787066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我方准备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097962"/>
            <a:ext cx="5006340" cy="103217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同规模同工序的参观安排（如果您想看）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一份数据体检清单与症断书模板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一份正式报价单：含硬件清单与年维护费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4681728"/>
            <a:ext cx="5390388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4681728"/>
            <a:ext cx="68580" cy="15361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9379" y="4787066"/>
            <a:ext cx="50063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贵方准备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9379" y="5097962"/>
            <a:ext cx="5006340" cy="103217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半天现场时间：老板 + 生产与设计负责人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近 12 个月的订单、交期与毛利数据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旧系统的导出权限（只读即可）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91440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一页速查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  <a:ea typeface="微软雅黑"/>
              </a:rPr>
              <a:t>这一页您可以拿去给股东、家人、管理层看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7E90AA"/>
                </a:solidFill>
                <a:latin typeface="Arial"/>
                <a:ea typeface="微软雅黑"/>
              </a:rPr>
              <a:t>非标定制品智能制造一体化 · 老板决策简报（脱敏版）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7E90AA"/>
                </a:solidFill>
                <a:latin typeface="Arial"/>
                <a:ea typeface="微软雅黑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买的是什么？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8105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多接单、少赔钱、不用天天盯 —— 三件事，不是一堆功能。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048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963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要花多少钱？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963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软件 + 硬件 + 实施 + 培训 + 年维护，一次列全；分期绑里程碑，硬件可自采。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06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1821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多久见东西？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1821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约 2 周在手机上看真实数据；8 周纯开发后试点上线；之后按产品线推广。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764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867911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要谁参与？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867911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一个能拍板的人 + 关键用户头两周约一半工时 + 一条变更纪律。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622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537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最大风险？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45537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推行。对策：先让一线受益、驾驶舱零操作、先跑一条产品线。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48072"/>
            <a:ext cx="11055096" cy="621792"/>
          </a:xfrm>
          <a:prstGeom prst="roundRect">
            <a:avLst>
              <a:gd name="adj" fmla="val 7058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239512"/>
            <a:ext cx="2148840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2F6BE4"/>
                </a:solidFill>
                <a:latin typeface="Arial"/>
                <a:ea typeface="微软雅黑"/>
              </a:rPr>
              <a:t>怎么算做成？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5239512"/>
            <a:ext cx="8311896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D6E0EE"/>
                </a:solidFill>
                <a:latin typeface="Arial"/>
                <a:ea typeface="微软雅黑"/>
              </a:rPr>
              <a:t>当场跑全流程 + 三处负面测试；拦不住就算我们没做完。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870448"/>
            <a:ext cx="11055096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8FA3BF"/>
                </a:solidFill>
                <a:latin typeface="Arial"/>
                <a:ea typeface="微软雅黑"/>
              </a:rPr>
              <a:t>我们不承诺做不到的事，也不接不合适的项目 —— 这是这套方案最硬的底气。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